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k" id="{90a9cac1-fce4-81f9-0f02-042cc71a574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A41"/>
                </a:solidFill>
                <a:latin typeface="+mn-lt"/>
              </a:rPr>
              <a:t>Marta's inner state (illustrative)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Confidence</c:v>
                </c:pt>
              </c:strCache>
            </c:strRef>
          </c:tx>
          <c:spPr>
            <a:solidFill>
              <a:srgbClr val="C8963E"/>
            </a:solidFill>
            <a:ln w="38100" cap="flat">
              <a:solidFill>
                <a:srgbClr val="C896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8963E"/>
              </a:solidFill>
              <a:ln w="9525" cap="flat">
                <a:solidFill>
                  <a:srgbClr val="C896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Start</c:v>
                  </c:pt>
                  <c:pt idx="1">
                    <c:v>Fee news</c:v>
                  </c:pt>
                  <c:pt idx="2">
                    <c:v>Grandfather</c:v>
                  </c:pt>
                  <c:pt idx="3">
                    <c:v>Walk to school</c:v>
                  </c:pt>
                  <c:pt idx="4">
                    <c:v>Confrontation</c:v>
                  </c:pt>
                  <c:pt idx="5">
                    <c:v>Jacket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4</c:v>
                </c:pt>
                <c:pt idx="2">
                  <c:v>2</c:v>
                </c:pt>
                <c:pt idx="3">
                  <c:v>5</c:v>
                </c:pt>
                <c:pt idx="4">
                  <c:v>8</c:v>
                </c:pt>
                <c:pt idx="5">
                  <c:v>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Anxiety</c:v>
                </c:pt>
              </c:strCache>
            </c:strRef>
          </c:tx>
          <c:spPr>
            <a:solidFill>
              <a:srgbClr val="7A1F2B"/>
            </a:solidFill>
            <a:ln w="38100" cap="flat">
              <a:solidFill>
                <a:srgbClr val="7A1F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7A1F2B"/>
              </a:solidFill>
              <a:ln w="9525" cap="flat">
                <a:solidFill>
                  <a:srgbClr val="7A1F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Start</c:v>
                  </c:pt>
                  <c:pt idx="1">
                    <c:v>Fee news</c:v>
                  </c:pt>
                  <c:pt idx="2">
                    <c:v>Grandfather</c:v>
                  </c:pt>
                  <c:pt idx="3">
                    <c:v>Walk to school</c:v>
                  </c:pt>
                  <c:pt idx="4">
                    <c:v>Confrontation</c:v>
                  </c:pt>
                  <c:pt idx="5">
                    <c:v>Jacket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6</c:v>
                </c:pt>
                <c:pt idx="2">
                  <c:v>9</c:v>
                </c:pt>
                <c:pt idx="3">
                  <c:v>7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9525" cap="flat">
              <a:solidFill>
                <a:srgbClr val="D9DC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A4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story and say that the focus is Marta's personality: what she is like, how we know it from the text, and how she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story is told by Marta herself, so everything we learn about her personality comes through her own voice, plus what others say and do around 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brief. The plot matters mostly because each stage reveals a different side of Marta.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character works as a mirror. Marta's reactions to them show her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traits, some of which pull against each other, make Marta a realistic and sympathetic character. The next slides give evidence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determination drives the plot. Without eight years of effort, the conflict would not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Scores are a reading aid, not measurements. Courage in the story is not the absence of fear but acting while afraid.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moment: Marta expected him to solve the problem with money. He gives her something harder and more valuable: the responsibility to defend her own worth.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theme is tested through a choice Marta has to make.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jacket is the visible prize. The real reward is Marta's growth: finding her voice.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returning to the title: the jacket is a symbol. Invite the audience to share their own answers to the discussion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120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54680"/>
            <a:ext cx="51206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OP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Scholarship Jacket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546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 character study of Marta, the narrator of Marta Salinas's short story</a:t>
            </a:r>
            <a:endParaRPr lang="en-US" sz="1600" dirty="0"/>
          </a:p>
        </p:txBody>
      </p:sp>
      <p:sp>
        <p:nvSpPr>
          <p:cNvPr id="4" name="Hero circle"/>
          <p:cNvSpPr/>
          <p:nvPr/>
        </p:nvSpPr>
        <p:spPr>
          <a:xfrm>
            <a:off x="6309360" y="1097280"/>
            <a:ext cx="2377440" cy="2377440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pic>
        <p:nvPicPr>
          <p:cNvPr id="5" name="Hero icon" descr="Gradu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64592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63E"/>
                </a:solidFill>
              </a:rPr>
              <a:t>Personality  |  Motivation  |  Growth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Story at a Glance</a:t>
            </a:r>
            <a:endParaRPr lang="en-US" sz="3200" dirty="0"/>
          </a:p>
        </p:txBody>
      </p:sp>
      <p:sp>
        <p:nvSpPr>
          <p:cNvPr id="3" name="Overview card"/>
          <p:cNvSpPr/>
          <p:nvPr/>
        </p:nvSpPr>
        <p:spPr>
          <a:xfrm>
            <a:off x="457200" y="1188720"/>
            <a:ext cx="4754880" cy="3383280"/>
          </a:xfrm>
          <a:prstGeom prst="roundRect">
            <a:avLst>
              <a:gd name="adj" fmla="val 216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4" name="Book circle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pic>
        <p:nvPicPr>
          <p:cNvPr id="5" name="Book icon" descr="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17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About the story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94560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Author: Marta Salinas, a Mexican-American writer. She gives the narrator her own first name.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Genre: a first-person coming-of-age short story.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Setting: a small Texas school town, 1950s-era, where class and ethnicity shape who gets recognized.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Question: will an honor that Marta has earned actually be given to her?</a:t>
            </a:r>
            <a:endParaRPr lang="en-US" sz="1400" dirty="0"/>
          </a:p>
        </p:txBody>
      </p:sp>
      <p:sp>
        <p:nvSpPr>
          <p:cNvPr id="8" name="Stat card 1"/>
          <p:cNvSpPr/>
          <p:nvPr/>
        </p:nvSpPr>
        <p:spPr>
          <a:xfrm>
            <a:off x="5486400" y="1188720"/>
            <a:ext cx="3200400" cy="1042416"/>
          </a:xfrm>
          <a:prstGeom prst="roundRect">
            <a:avLst>
              <a:gd name="adj" fmla="val 7018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69280" y="1280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years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179222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of top grades behind Marta's claim to the jacket</a:t>
            </a:r>
            <a:endParaRPr lang="en-US" sz="1200" dirty="0"/>
          </a:p>
        </p:txBody>
      </p:sp>
      <p:sp>
        <p:nvSpPr>
          <p:cNvPr id="11" name="Stat card 2"/>
          <p:cNvSpPr/>
          <p:nvPr/>
        </p:nvSpPr>
        <p:spPr>
          <a:xfrm>
            <a:off x="5486400" y="2359152"/>
            <a:ext cx="3200400" cy="1042416"/>
          </a:xfrm>
          <a:prstGeom prst="roundRect">
            <a:avLst>
              <a:gd name="adj" fmla="val 7018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0" y="24505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0" y="296265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fee the school suddenly asks her family to pay</a:t>
            </a:r>
            <a:endParaRPr lang="en-US" sz="1200" dirty="0"/>
          </a:p>
        </p:txBody>
      </p:sp>
      <p:sp>
        <p:nvSpPr>
          <p:cNvPr id="14" name="Stat card 3"/>
          <p:cNvSpPr/>
          <p:nvPr/>
        </p:nvSpPr>
        <p:spPr>
          <a:xfrm>
            <a:off x="5486400" y="3529584"/>
            <a:ext cx="3200400" cy="1042416"/>
          </a:xfrm>
          <a:prstGeom prst="roundRect">
            <a:avLst>
              <a:gd name="adj" fmla="val 7018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69280" y="362102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jacket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0" y="41330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the symbol of everything Marta has worked for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Plot in Four Moments</a:t>
            </a:r>
            <a:endParaRPr lang="en-US" sz="3200" dirty="0"/>
          </a:p>
        </p:txBody>
      </p:sp>
      <p:sp>
        <p:nvSpPr>
          <p:cNvPr id="3" name="Timeline line"/>
          <p:cNvSpPr/>
          <p:nvPr/>
        </p:nvSpPr>
        <p:spPr>
          <a:xfrm>
            <a:off x="1097280" y="1463040"/>
            <a:ext cx="7132320" cy="0"/>
          </a:xfrm>
          <a:prstGeom prst="line">
            <a:avLst/>
          </a:prstGeom>
          <a:noFill/>
          <a:ln w="25400">
            <a:solidFill>
              <a:srgbClr val="C8963E"/>
            </a:solidFill>
            <a:prstDash val="solid"/>
          </a:ln>
        </p:spPr>
      </p:sp>
      <p:sp>
        <p:nvSpPr>
          <p:cNvPr id="4" name="Step 1"/>
          <p:cNvSpPr/>
          <p:nvPr/>
        </p:nvSpPr>
        <p:spPr>
          <a:xfrm>
            <a:off x="1188720" y="1234440"/>
            <a:ext cx="457200" cy="457200"/>
          </a:xfrm>
          <a:prstGeom prst="ellipse">
            <a:avLst/>
          </a:prstGeom>
          <a:solidFill>
            <a:srgbClr val="7A1F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Plot card 1"/>
          <p:cNvSpPr/>
          <p:nvPr/>
        </p:nvSpPr>
        <p:spPr>
          <a:xfrm>
            <a:off x="457200" y="187452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Exposition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42316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Marta, raised by her grandparents, has earned top grades for eight years. The school jacket is the prize she has dreamed of.</a:t>
            </a:r>
            <a:endParaRPr lang="en-US" sz="1400" dirty="0"/>
          </a:p>
        </p:txBody>
      </p:sp>
      <p:sp>
        <p:nvSpPr>
          <p:cNvPr id="9" name="Step 2"/>
          <p:cNvSpPr/>
          <p:nvPr/>
        </p:nvSpPr>
        <p:spPr>
          <a:xfrm>
            <a:off x="3291840" y="1234440"/>
            <a:ext cx="457200" cy="457200"/>
          </a:xfrm>
          <a:prstGeom prst="ellipse">
            <a:avLst/>
          </a:prstGeom>
          <a:solidFill>
            <a:srgbClr val="7A1F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Plot card 2"/>
          <p:cNvSpPr/>
          <p:nvPr/>
        </p:nvSpPr>
        <p:spPr>
          <a:xfrm>
            <a:off x="2560320" y="187452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9748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Conflict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42316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Rumors and tension grow. A more privileged classmate may get the jacket, and Marta fears her family's poverty will count against her.</a:t>
            </a:r>
            <a:endParaRPr lang="en-US" sz="1400" dirty="0"/>
          </a:p>
        </p:txBody>
      </p:sp>
      <p:sp>
        <p:nvSpPr>
          <p:cNvPr id="14" name="Step 3"/>
          <p:cNvSpPr/>
          <p:nvPr/>
        </p:nvSpPr>
        <p:spPr>
          <a:xfrm>
            <a:off x="5394960" y="1234440"/>
            <a:ext cx="457200" cy="457200"/>
          </a:xfrm>
          <a:prstGeom prst="ellipse">
            <a:avLst/>
          </a:prstGeom>
          <a:solidFill>
            <a:srgbClr val="7A1F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949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Plot card 3"/>
          <p:cNvSpPr/>
          <p:nvPr/>
        </p:nvSpPr>
        <p:spPr>
          <a:xfrm>
            <a:off x="4663440" y="187452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Climax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242316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She is told she must pay $15. Her grandfather will not pay for an award that should be free, and sends her to speak up.</a:t>
            </a:r>
            <a:endParaRPr lang="en-US" sz="1400" dirty="0"/>
          </a:p>
        </p:txBody>
      </p:sp>
      <p:sp>
        <p:nvSpPr>
          <p:cNvPr id="19" name="Step 4"/>
          <p:cNvSpPr/>
          <p:nvPr/>
        </p:nvSpPr>
        <p:spPr>
          <a:xfrm>
            <a:off x="7498080" y="1234440"/>
            <a:ext cx="457200" cy="457200"/>
          </a:xfrm>
          <a:prstGeom prst="ellipse">
            <a:avLst/>
          </a:prstGeom>
          <a:solidFill>
            <a:srgbClr val="7A1F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Plot card 4"/>
          <p:cNvSpPr/>
          <p:nvPr/>
        </p:nvSpPr>
        <p:spPr>
          <a:xfrm>
            <a:off x="6766560" y="187452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0372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Resolution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42316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Marta stands her ground in front of the officials. The school gives her the jacket without charge.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People Who Shape Marta</a:t>
            </a:r>
            <a:endParaRPr lang="en-US" sz="3200" dirty="0"/>
          </a:p>
        </p:txBody>
      </p:sp>
      <p:sp>
        <p:nvSpPr>
          <p:cNvPr id="3" name="Character card 1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4" name="Marta circle"/>
          <p:cNvSpPr/>
          <p:nvPr/>
        </p:nvSpPr>
        <p:spPr>
          <a:xfrm>
            <a:off x="640080" y="1371600"/>
            <a:ext cx="640080" cy="640080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pic>
        <p:nvPicPr>
          <p:cNvPr id="5" name="Marta icon" descr="Mar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5316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533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Marta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755648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Narrator and protagonist. Bright, shy, and fiercely proud of what she has earned.</a:t>
            </a:r>
            <a:endParaRPr lang="en-US" sz="1400" dirty="0"/>
          </a:p>
        </p:txBody>
      </p:sp>
      <p:sp>
        <p:nvSpPr>
          <p:cNvPr id="8" name="Character card 2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9" name="Grandfather circle"/>
          <p:cNvSpPr/>
          <p:nvPr/>
        </p:nvSpPr>
        <p:spPr>
          <a:xfrm>
            <a:off x="4846320" y="1371600"/>
            <a:ext cx="640080" cy="640080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pic>
        <p:nvPicPr>
          <p:cNvPr id="10" name="Grandfather icon" descr="Grandfath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5316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3533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Grandfather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669280" y="1755648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Her moral anchor. He teaches that dignity matters more than money or approval.</a:t>
            </a:r>
            <a:endParaRPr lang="en-US" sz="1400" dirty="0"/>
          </a:p>
        </p:txBody>
      </p:sp>
      <p:sp>
        <p:nvSpPr>
          <p:cNvPr id="13" name="Character card 3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4" name="Joann circle"/>
          <p:cNvSpPr/>
          <p:nvPr/>
        </p:nvSpPr>
        <p:spPr>
          <a:xfrm>
            <a:off x="640080" y="3154680"/>
            <a:ext cx="640080" cy="640080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pic>
        <p:nvPicPr>
          <p:cNvPr id="15" name="Joann icon" descr="Joan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3147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31363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Joann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3538728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classmate with advantages. She represents the privilege Marta feels she cannot match.</a:t>
            </a:r>
            <a:endParaRPr lang="en-US" sz="1400" dirty="0"/>
          </a:p>
        </p:txBody>
      </p:sp>
      <p:sp>
        <p:nvSpPr>
          <p:cNvPr id="18" name="Character card 4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9" name="School officials circle"/>
          <p:cNvSpPr/>
          <p:nvPr/>
        </p:nvSpPr>
        <p:spPr>
          <a:xfrm>
            <a:off x="4846320" y="3154680"/>
            <a:ext cx="640080" cy="640080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pic>
        <p:nvPicPr>
          <p:cNvPr id="20" name="School officials icon" descr="School official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331470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69280" y="31363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School officials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669280" y="3538728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Mr. Schmidt and Mr. Boone. They hold the power to grant or deny Marta's reward.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Marta's Personality: Six Traits</a:t>
            </a:r>
            <a:endParaRPr lang="en-US" sz="3200" dirty="0"/>
          </a:p>
        </p:txBody>
      </p:sp>
      <p:sp>
        <p:nvSpPr>
          <p:cNvPr id="3" name="Trait card 1"/>
          <p:cNvSpPr/>
          <p:nvPr/>
        </p:nvSpPr>
        <p:spPr>
          <a:xfrm>
            <a:off x="457200" y="11887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4" name="Determined circle"/>
          <p:cNvSpPr/>
          <p:nvPr/>
        </p:nvSpPr>
        <p:spPr>
          <a:xfrm>
            <a:off x="640080" y="1353312"/>
            <a:ext cx="502920" cy="502920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pic>
        <p:nvPicPr>
          <p:cNvPr id="5" name="Determined icon" descr="Determin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79042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533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Determined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9339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Works hard for eight straight years to earn her place.</a:t>
            </a:r>
            <a:endParaRPr lang="en-US" sz="1400" dirty="0"/>
          </a:p>
        </p:txBody>
      </p:sp>
      <p:sp>
        <p:nvSpPr>
          <p:cNvPr id="8" name="Trait card 2"/>
          <p:cNvSpPr/>
          <p:nvPr/>
        </p:nvSpPr>
        <p:spPr>
          <a:xfrm>
            <a:off x="3246120" y="11887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9" name="Proud circle"/>
          <p:cNvSpPr/>
          <p:nvPr/>
        </p:nvSpPr>
        <p:spPr>
          <a:xfrm>
            <a:off x="3429000" y="1353312"/>
            <a:ext cx="502920" cy="502920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pic>
        <p:nvPicPr>
          <p:cNvPr id="10" name="Proud icon" descr="Prou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730" y="1479042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69080" y="13533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Proud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199339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Takes deep, quiet pride in her achievement and her heritage.</a:t>
            </a:r>
            <a:endParaRPr lang="en-US" sz="1400" dirty="0"/>
          </a:p>
        </p:txBody>
      </p:sp>
      <p:sp>
        <p:nvSpPr>
          <p:cNvPr id="13" name="Trait card 3"/>
          <p:cNvSpPr/>
          <p:nvPr/>
        </p:nvSpPr>
        <p:spPr>
          <a:xfrm>
            <a:off x="6035040" y="11887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4" name="Shy circle"/>
          <p:cNvSpPr/>
          <p:nvPr/>
        </p:nvSpPr>
        <p:spPr>
          <a:xfrm>
            <a:off x="6217920" y="1353312"/>
            <a:ext cx="502920" cy="502920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pic>
        <p:nvPicPr>
          <p:cNvPr id="15" name="Shy icon" descr="Sh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1479042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0" y="13533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Shy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199339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Struggles to speak up, especially before authority.</a:t>
            </a:r>
            <a:endParaRPr lang="en-US" sz="1400" dirty="0"/>
          </a:p>
        </p:txBody>
      </p:sp>
      <p:sp>
        <p:nvSpPr>
          <p:cNvPr id="18" name="Trait card 4"/>
          <p:cNvSpPr/>
          <p:nvPr/>
        </p:nvSpPr>
        <p:spPr>
          <a:xfrm>
            <a:off x="45720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9" name="Loyal circle"/>
          <p:cNvSpPr/>
          <p:nvPr/>
        </p:nvSpPr>
        <p:spPr>
          <a:xfrm>
            <a:off x="640080" y="3136392"/>
            <a:ext cx="502920" cy="502920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pic>
        <p:nvPicPr>
          <p:cNvPr id="20" name="Loyal icon" descr="Loy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3262122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31363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Loyal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77647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Deeply attached to her family and anxious not to shame them.</a:t>
            </a:r>
            <a:endParaRPr lang="en-US" sz="1400" dirty="0"/>
          </a:p>
        </p:txBody>
      </p:sp>
      <p:sp>
        <p:nvSpPr>
          <p:cNvPr id="23" name="Trait card 5"/>
          <p:cNvSpPr/>
          <p:nvPr/>
        </p:nvSpPr>
        <p:spPr>
          <a:xfrm>
            <a:off x="324612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24" name="Principled circle"/>
          <p:cNvSpPr/>
          <p:nvPr/>
        </p:nvSpPr>
        <p:spPr>
          <a:xfrm>
            <a:off x="3429000" y="3136392"/>
            <a:ext cx="502920" cy="502920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pic>
        <p:nvPicPr>
          <p:cNvPr id="25" name="Principled icon" descr="Principle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4730" y="3262122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69080" y="31363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Principled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3429000" y="377647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Believes what is earned should not be bought.</a:t>
            </a:r>
            <a:endParaRPr lang="en-US" sz="1400" dirty="0"/>
          </a:p>
        </p:txBody>
      </p:sp>
      <p:sp>
        <p:nvSpPr>
          <p:cNvPr id="28" name="Trait card 6"/>
          <p:cNvSpPr/>
          <p:nvPr/>
        </p:nvSpPr>
        <p:spPr>
          <a:xfrm>
            <a:off x="603504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29" name="Courageous circle"/>
          <p:cNvSpPr/>
          <p:nvPr/>
        </p:nvSpPr>
        <p:spPr>
          <a:xfrm>
            <a:off x="6217920" y="3136392"/>
            <a:ext cx="502920" cy="502920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pic>
        <p:nvPicPr>
          <p:cNvPr id="30" name="Courageous icon" descr="Courageou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3650" y="3262122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58000" y="31363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Courageous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77647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Finds her voice when the stakes are highest.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Determined and Proud</a:t>
            </a:r>
            <a:endParaRPr lang="en-US" sz="3200" dirty="0"/>
          </a:p>
        </p:txBody>
      </p:sp>
      <p:sp>
        <p:nvSpPr>
          <p:cNvPr id="3" name="Panel"/>
          <p:cNvSpPr/>
          <p:nvPr/>
        </p:nvSpPr>
        <p:spPr>
          <a:xfrm>
            <a:off x="457200" y="1188720"/>
            <a:ext cx="2743200" cy="3429000"/>
          </a:xfrm>
          <a:prstGeom prst="roundRect">
            <a:avLst>
              <a:gd name="adj" fmla="val 266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4" name="Medal circle"/>
          <p:cNvSpPr/>
          <p:nvPr/>
        </p:nvSpPr>
        <p:spPr>
          <a:xfrm>
            <a:off x="1325880" y="1463040"/>
            <a:ext cx="1005840" cy="1005840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pic>
        <p:nvPicPr>
          <p:cNvPr id="5" name="Medal icon" descr="Med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17145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Achiever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2004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Marta measures herself by effort, not by comfort or status.</a:t>
            </a:r>
            <a:endParaRPr lang="en-US" sz="1400" dirty="0"/>
          </a:p>
        </p:txBody>
      </p:sp>
      <p:sp>
        <p:nvSpPr>
          <p:cNvPr id="8" name="Evidence 1"/>
          <p:cNvSpPr/>
          <p:nvPr/>
        </p:nvSpPr>
        <p:spPr>
          <a:xfrm>
            <a:off x="3429000" y="118872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11880" y="12984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she does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611880" y="160934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Studies hard for eight years and treats the jacket as the goal that gives that work meaning.</a:t>
            </a:r>
            <a:endParaRPr lang="en-US" sz="1400" dirty="0"/>
          </a:p>
        </p:txBody>
      </p:sp>
      <p:sp>
        <p:nvSpPr>
          <p:cNvPr id="11" name="Evidence 2"/>
          <p:cNvSpPr/>
          <p:nvPr/>
        </p:nvSpPr>
        <p:spPr>
          <a:xfrm>
            <a:off x="3429000" y="2359152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11880" y="24688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it shows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277977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Persistence and delayed reward. She believes in earning things honestly.</a:t>
            </a:r>
            <a:endParaRPr lang="en-US" sz="1400" dirty="0"/>
          </a:p>
        </p:txBody>
      </p:sp>
      <p:sp>
        <p:nvSpPr>
          <p:cNvPr id="14" name="Evidence 3"/>
          <p:cNvSpPr/>
          <p:nvPr/>
        </p:nvSpPr>
        <p:spPr>
          <a:xfrm>
            <a:off x="3429000" y="3529584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1188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Why pride matters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611880" y="395020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Her pride is not arrogance. It is her defense against being treated as less than the others.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Shy, but Braver Than She Knows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Notes card"/>
          <p:cNvSpPr/>
          <p:nvPr/>
        </p:nvSpPr>
        <p:spPr>
          <a:xfrm>
            <a:off x="5669280" y="1188720"/>
            <a:ext cx="3017520" cy="3200400"/>
          </a:xfrm>
          <a:prstGeom prst="roundRect">
            <a:avLst>
              <a:gd name="adj" fmla="val 2424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5216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Reading the arc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852160" y="178308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Anxiety peaks when she thinks she must give up the jacket.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Confidence climbs once she decides to speak.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Shyness never vanishes. She acts despite it.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480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Chart is an interpretive sketch by the presenter, not data from the text.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Her Grandfather's Influence</a:t>
            </a:r>
            <a:endParaRPr lang="en-US" sz="3200" dirty="0"/>
          </a:p>
        </p:txBody>
      </p:sp>
      <p:sp>
        <p:nvSpPr>
          <p:cNvPr id="3" name="Grandfather column"/>
          <p:cNvSpPr/>
          <p:nvPr/>
        </p:nvSpPr>
        <p:spPr>
          <a:xfrm>
            <a:off x="457200" y="118872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4" name="Home circle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pic>
        <p:nvPicPr>
          <p:cNvPr id="5" name="Home icon" descr="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17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63E"/>
                </a:solidFill>
              </a:rPr>
              <a:t>What he teaches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9456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Honest work earns respect.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Dignity is not for sale.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Do not pay for what you have rightfully won.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Speak for yourself, even when it is hard.</a:t>
            </a:r>
            <a:endParaRPr lang="en-US" sz="1600" dirty="0"/>
          </a:p>
        </p:txBody>
      </p:sp>
      <p:sp>
        <p:nvSpPr>
          <p:cNvPr id="8" name="Marta column"/>
          <p:cNvSpPr/>
          <p:nvPr/>
        </p:nvSpPr>
        <p:spPr>
          <a:xfrm>
            <a:off x="4663440" y="118872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9" name="Marta circle"/>
          <p:cNvSpPr/>
          <p:nvPr/>
        </p:nvSpPr>
        <p:spPr>
          <a:xfrm>
            <a:off x="4892040" y="1417320"/>
            <a:ext cx="548640" cy="548640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pic>
        <p:nvPicPr>
          <p:cNvPr id="10" name="Marta icon" descr="Mar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417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How Marta absorbs it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19456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At first she is hurt and afraid he will refuse.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Then she grasps that his refusal protects her self-respect.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She carries his words into the confrontation, borrowing his strength until she finds her own.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Themes Revealed Through Marta</a:t>
            </a:r>
            <a:endParaRPr lang="en-US" sz="3200" dirty="0"/>
          </a:p>
        </p:txBody>
      </p:sp>
      <p:sp>
        <p:nvSpPr>
          <p:cNvPr id="3" name="Theme card 1"/>
          <p:cNvSpPr/>
          <p:nvPr/>
        </p:nvSpPr>
        <p:spPr>
          <a:xfrm>
            <a:off x="457200" y="118872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4" name="Fairness circle"/>
          <p:cNvSpPr/>
          <p:nvPr/>
        </p:nvSpPr>
        <p:spPr>
          <a:xfrm>
            <a:off x="1051560" y="1371600"/>
            <a:ext cx="731520" cy="731520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pic>
        <p:nvPicPr>
          <p:cNvPr id="5" name="Fairness icon" descr="Fairn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Fairness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74320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Rewards should go to those who earn them, not those with influence.</a:t>
            </a:r>
            <a:endParaRPr lang="en-US" sz="1400" dirty="0"/>
          </a:p>
        </p:txBody>
      </p:sp>
      <p:sp>
        <p:nvSpPr>
          <p:cNvPr id="8" name="Theme card 2"/>
          <p:cNvSpPr/>
          <p:nvPr/>
        </p:nvSpPr>
        <p:spPr>
          <a:xfrm>
            <a:off x="2560320" y="118872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9" name="Dignity circle"/>
          <p:cNvSpPr/>
          <p:nvPr/>
        </p:nvSpPr>
        <p:spPr>
          <a:xfrm>
            <a:off x="3154680" y="1371600"/>
            <a:ext cx="731520" cy="731520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pic>
        <p:nvPicPr>
          <p:cNvPr id="10" name="Dignity icon" descr="Digni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5544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9748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Dignity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697480" y="274320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Self-respect cannot be bought and must be defended.</a:t>
            </a:r>
            <a:endParaRPr lang="en-US" sz="1400" dirty="0"/>
          </a:p>
        </p:txBody>
      </p:sp>
      <p:sp>
        <p:nvSpPr>
          <p:cNvPr id="13" name="Theme card 3"/>
          <p:cNvSpPr/>
          <p:nvPr/>
        </p:nvSpPr>
        <p:spPr>
          <a:xfrm>
            <a:off x="4663440" y="118872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4" name="Prejudice circle"/>
          <p:cNvSpPr/>
          <p:nvPr/>
        </p:nvSpPr>
        <p:spPr>
          <a:xfrm>
            <a:off x="5257800" y="1371600"/>
            <a:ext cx="731520" cy="731520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pic>
        <p:nvPicPr>
          <p:cNvPr id="15" name="Prejudice icon" descr="Prejudi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5544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0060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Prejudice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4800600" y="274320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 and ethnicity quietly tilt the field against Marta.</a:t>
            </a:r>
            <a:endParaRPr lang="en-US" sz="1400" dirty="0"/>
          </a:p>
        </p:txBody>
      </p:sp>
      <p:sp>
        <p:nvSpPr>
          <p:cNvPr id="18" name="Theme card 4"/>
          <p:cNvSpPr/>
          <p:nvPr/>
        </p:nvSpPr>
        <p:spPr>
          <a:xfrm>
            <a:off x="6766560" y="118872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9" name="Family circle"/>
          <p:cNvSpPr/>
          <p:nvPr/>
        </p:nvSpPr>
        <p:spPr>
          <a:xfrm>
            <a:off x="7360920" y="1371600"/>
            <a:ext cx="731520" cy="731520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pic>
        <p:nvPicPr>
          <p:cNvPr id="20" name="Family icon" descr="Famil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5544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0372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Family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903720" y="274320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Love and values from home give her strength to act.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Marta's Character Arc</a:t>
            </a:r>
            <a:endParaRPr lang="en-US" sz="3200" dirty="0"/>
          </a:p>
        </p:txBody>
      </p:sp>
      <p:sp>
        <p:nvSpPr>
          <p:cNvPr id="3" name="Before card"/>
          <p:cNvSpPr/>
          <p:nvPr/>
        </p:nvSpPr>
        <p:spPr>
          <a:xfrm>
            <a:off x="457200" y="118872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Quiet and self-doubting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Expects others to decide her fate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Sees poverty as a weakness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Hopes the jacket will speak for her</a:t>
            </a:r>
            <a:endParaRPr lang="en-US" sz="1600" dirty="0"/>
          </a:p>
        </p:txBody>
      </p:sp>
      <p:sp>
        <p:nvSpPr>
          <p:cNvPr id="6" name="Arc arrow"/>
          <p:cNvSpPr/>
          <p:nvPr/>
        </p:nvSpPr>
        <p:spPr>
          <a:xfrm>
            <a:off x="4114800" y="2423160"/>
            <a:ext cx="914400" cy="731520"/>
          </a:xfrm>
          <a:prstGeom prst="rightArrow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7" name="After card"/>
          <p:cNvSpPr/>
          <p:nvPr/>
        </p:nvSpPr>
        <p:spPr>
          <a:xfrm>
            <a:off x="5120640" y="118872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49240" y="1325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192024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Speaks up for herself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Takes responsibility for her own worth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Sees her background as a source of strength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Knows she earned the jacket and her voice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 and Discussion</a:t>
            </a:r>
            <a:endParaRPr lang="en-US" sz="3200" dirty="0"/>
          </a:p>
        </p:txBody>
      </p:sp>
      <p:sp>
        <p:nvSpPr>
          <p:cNvPr id="3" name="Takeaway card"/>
          <p:cNvSpPr/>
          <p:nvPr/>
        </p:nvSpPr>
        <p:spPr>
          <a:xfrm>
            <a:off x="457200" y="118872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</a:rPr>
              <a:t>Marta in one sentence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shy, hardworking girl who learns that dignity and courage matter as much as grades, and that earning something means defending it.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80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963E"/>
                </a:solidFill>
              </a:rPr>
              <a:t>Questions to discuss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78308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FFFFFF"/>
                </a:solidFill>
              </a:rPr>
              <a:t>Why does Marta's grandfather refuse to pay, and was he right?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FFFFFF"/>
                </a:solidFill>
              </a:rPr>
              <a:t>How does shyness shape Marta's choices?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FFFFFF"/>
                </a:solidFill>
              </a:rPr>
              <a:t>What would you have done in her place?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holarship Jacket">
  <a:themeElements>
    <a:clrScheme name="Scholarship Jacket">
      <a:dk1>
        <a:srgbClr val="1B2A41"/>
      </a:dk1>
      <a:lt1>
        <a:srgbClr val="FFFFFF"/>
      </a:lt1>
      <a:dk2>
        <a:srgbClr val="7A1F2B"/>
      </a:dk2>
      <a:lt2>
        <a:srgbClr val="F1F3F7"/>
      </a:lt2>
      <a:accent1>
        <a:srgbClr val="C8963E"/>
      </a:accent1>
      <a:accent2>
        <a:srgbClr val="7A1F2B"/>
      </a:accent2>
      <a:accent3>
        <a:srgbClr val="2F5D8A"/>
      </a:accent3>
      <a:accent4>
        <a:srgbClr val="5B8C5A"/>
      </a:accent4>
      <a:accent5>
        <a:srgbClr val="B5543C"/>
      </a:accent5>
      <a:accent6>
        <a:srgbClr val="6B7280"/>
      </a:accent6>
      <a:hlink>
        <a:srgbClr val="2F5D8A"/>
      </a:hlink>
      <a:folHlink>
        <a:srgbClr val="6B7280"/>
      </a:folHlink>
    </a:clrScheme>
    <a:fontScheme name="Scholarship Jacke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Scholarship Jacket - Character Analysis of Marta</dc:title>
  <dc:subject>PptxGenJS Presentation</dc:subject>
  <dc:creator>Claude</dc:creator>
  <cp:lastModifiedBy>Claude</cp:lastModifiedBy>
  <cp:revision>1</cp:revision>
  <dcterms:created xsi:type="dcterms:W3CDTF">2026-10-10T15:12:52Z</dcterms:created>
  <dcterms:modified xsi:type="dcterms:W3CDTF">2026-10-10T15:12:52Z</dcterms:modified>
</cp:coreProperties>
</file>
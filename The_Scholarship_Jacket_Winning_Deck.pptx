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ck" id="{fe30ab89-091a-a362-d2e1-83d7be7e78e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Marta</c:v>
                </c:pt>
              </c:strCache>
            </c:strRef>
          </c:tx>
          <c:spPr>
            <a:solidFill>
              <a:srgbClr val="6A3FCF">
                <a:alpha val="55000"/>
              </a:srgbClr>
            </a:solidFill>
            <a:ln w="25400" cap="flat">
              <a:solidFill>
                <a:srgbClr val="6A3FCF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6A3FCF"/>
              </a:solidFill>
              <a:ln w="9525" cap="flat">
                <a:solidFill>
                  <a:srgbClr val="6A3FC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Determined</c:v>
                  </c:pt>
                  <c:pt idx="1">
                    <c:v>Proud</c:v>
                  </c:pt>
                  <c:pt idx="2">
                    <c:v>Shy</c:v>
                  </c:pt>
                  <c:pt idx="3">
                    <c:v>Loyal</c:v>
                  </c:pt>
                  <c:pt idx="4">
                    <c:v>Principled</c:v>
                  </c:pt>
                  <c:pt idx="5">
                    <c:v>Courageous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</c:v>
                </c:pt>
                <c:pt idx="1">
                  <c:v>8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213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9525" cap="flat">
              <a:solidFill>
                <a:srgbClr val="D5D9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4213D"/>
                </a:solidFill>
                <a:latin typeface="+mn-lt"/>
              </a:rPr>
              <a:t>Marta's inner state (illustrative)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Confidence</c:v>
                </c:pt>
              </c:strCache>
            </c:strRef>
          </c:tx>
          <c:spPr>
            <a:solidFill>
              <a:srgbClr val="0E8F85"/>
            </a:solidFill>
            <a:ln w="38100" cap="flat">
              <a:solidFill>
                <a:srgbClr val="0E8F8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E8F85"/>
              </a:solidFill>
              <a:ln w="9525" cap="flat">
                <a:solidFill>
                  <a:srgbClr val="0E8F8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Start</c:v>
                  </c:pt>
                  <c:pt idx="1">
                    <c:v>Fee news</c:v>
                  </c:pt>
                  <c:pt idx="2">
                    <c:v>Grandfather</c:v>
                  </c:pt>
                  <c:pt idx="3">
                    <c:v>Walk to school</c:v>
                  </c:pt>
                  <c:pt idx="4">
                    <c:v>Confrontation</c:v>
                  </c:pt>
                  <c:pt idx="5">
                    <c:v>Jacket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4</c:v>
                </c:pt>
                <c:pt idx="2">
                  <c:v>2</c:v>
                </c:pt>
                <c:pt idx="3">
                  <c:v>5</c:v>
                </c:pt>
                <c:pt idx="4">
                  <c:v>8</c:v>
                </c:pt>
                <c:pt idx="5">
                  <c:v>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Anxiety</c:v>
                </c:pt>
              </c:strCache>
            </c:strRef>
          </c:tx>
          <c:spPr>
            <a:solidFill>
              <a:srgbClr val="D93D4A"/>
            </a:solidFill>
            <a:ln w="38100" cap="flat">
              <a:solidFill>
                <a:srgbClr val="D93D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D93D4A"/>
              </a:solidFill>
              <a:ln w="9525" cap="flat">
                <a:solidFill>
                  <a:srgbClr val="D93D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Start</c:v>
                  </c:pt>
                  <c:pt idx="1">
                    <c:v>Fee news</c:v>
                  </c:pt>
                  <c:pt idx="2">
                    <c:v>Grandfather</c:v>
                  </c:pt>
                  <c:pt idx="3">
                    <c:v>Walk to school</c:v>
                  </c:pt>
                  <c:pt idx="4">
                    <c:v>Confrontation</c:v>
                  </c:pt>
                  <c:pt idx="5">
                    <c:v>Jacket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</c:v>
                </c:pt>
                <c:pt idx="1">
                  <c:v>6</c:v>
                </c:pt>
                <c:pt idx="2">
                  <c:v>9</c:v>
                </c:pt>
                <c:pt idx="3">
                  <c:v>7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4213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9525" cap="flat">
              <a:solidFill>
                <a:srgbClr val="D5D9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4213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4213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story and the focus: Marta's personality, how we know it, and how she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Brief. Each stage reveals a different side of Marta.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Portraits are original illustrations, not depictions from the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quick visual summary. Shyness scores high because it is a real part of her personality, even though she acts against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 gives her something harder than money: the responsibility to defend her own worth.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jacket is the visible prize. The real reward is Marta finding her voice.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 to the title: the jacket is a symbol. Invite the audience to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DARK_TITL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DARK_TOP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49377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108960"/>
            <a:ext cx="47548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OP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274320"/>
            <a:ext cx="7498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The Scholarship Jacket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108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What Marta's choices reveal about her personality</a:t>
            </a:r>
            <a:endParaRPr lang="en-US" sz="1800" dirty="0"/>
          </a:p>
        </p:txBody>
      </p:sp>
      <p:sp>
        <p:nvSpPr>
          <p:cNvPr id="4" name="Author chip"/>
          <p:cNvSpPr/>
          <p:nvPr/>
        </p:nvSpPr>
        <p:spPr>
          <a:xfrm>
            <a:off x="548640" y="640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A story by Marta Salinas</a:t>
            </a:r>
            <a:endParaRPr lang="en-US" sz="1400" dirty="0"/>
          </a:p>
        </p:txBody>
      </p:sp>
      <p:sp>
        <p:nvSpPr>
          <p:cNvPr id="6" name="Jacket halo"/>
          <p:cNvSpPr/>
          <p:nvPr/>
        </p:nvSpPr>
        <p:spPr>
          <a:xfrm>
            <a:off x="5669280" y="731520"/>
            <a:ext cx="3200400" cy="32004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7" name="Jacket illustration" descr="Illustration of a maroon and gold scholarship jack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914400"/>
            <a:ext cx="2743200" cy="2743200"/>
          </a:xfrm>
          <a:prstGeom prst="rect">
            <a:avLst/>
          </a:prstGeom>
        </p:spPr>
      </p:pic>
      <p:sp>
        <p:nvSpPr>
          <p:cNvPr id="8" name="Chip Plot"/>
          <p:cNvSpPr/>
          <p:nvPr/>
        </p:nvSpPr>
        <p:spPr>
          <a:xfrm>
            <a:off x="548640" y="420624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D93D4A"/>
          </a:solidFill>
          <a:ln w="12700">
            <a:solidFill>
              <a:srgbClr val="D93D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42062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Plot</a:t>
            </a:r>
            <a:endParaRPr lang="en-US" sz="1400" dirty="0"/>
          </a:p>
        </p:txBody>
      </p:sp>
      <p:sp>
        <p:nvSpPr>
          <p:cNvPr id="10" name="Chip Personality"/>
          <p:cNvSpPr/>
          <p:nvPr/>
        </p:nvSpPr>
        <p:spPr>
          <a:xfrm>
            <a:off x="1828800" y="420624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0E8F85"/>
          </a:solidFill>
          <a:ln w="12700">
            <a:solidFill>
              <a:srgbClr val="0E8F8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828800" y="42062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Personality</a:t>
            </a:r>
            <a:endParaRPr lang="en-US" sz="1400" dirty="0"/>
          </a:p>
        </p:txBody>
      </p:sp>
      <p:sp>
        <p:nvSpPr>
          <p:cNvPr id="12" name="Chip Themes"/>
          <p:cNvSpPr/>
          <p:nvPr/>
        </p:nvSpPr>
        <p:spPr>
          <a:xfrm>
            <a:off x="3108960" y="420624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2563D8"/>
          </a:solidFill>
          <a:ln w="12700">
            <a:solidFill>
              <a:srgbClr val="2563D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108960" y="42062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Themes</a:t>
            </a:r>
            <a:endParaRPr lang="en-US" sz="1400" dirty="0"/>
          </a:p>
        </p:txBody>
      </p:sp>
      <p:sp>
        <p:nvSpPr>
          <p:cNvPr id="14" name="Chip Growth"/>
          <p:cNvSpPr/>
          <p:nvPr/>
        </p:nvSpPr>
        <p:spPr>
          <a:xfrm>
            <a:off x="4389120" y="420624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389120" y="42062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Growth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We'll Explore</a:t>
            </a:r>
            <a:endParaRPr lang="en-US" sz="3200" dirty="0"/>
          </a:p>
        </p:txBody>
      </p:sp>
      <p:sp>
        <p:nvSpPr>
          <p:cNvPr id="3" name="Agenda row 1"/>
          <p:cNvSpPr/>
          <p:nvPr/>
        </p:nvSpPr>
        <p:spPr>
          <a:xfrm>
            <a:off x="457200" y="1188720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FDE6E7"/>
          </a:solidFill>
          <a:ln w="12700">
            <a:solidFill>
              <a:srgbClr val="FDE6E7"/>
            </a:solidFill>
            <a:prstDash val="solid"/>
          </a:ln>
        </p:spPr>
      </p:sp>
      <p:sp>
        <p:nvSpPr>
          <p:cNvPr id="4" name="Agenda number 1"/>
          <p:cNvSpPr/>
          <p:nvPr/>
        </p:nvSpPr>
        <p:spPr>
          <a:xfrm>
            <a:off x="530352" y="1261872"/>
            <a:ext cx="420624" cy="420624"/>
          </a:xfrm>
          <a:prstGeom prst="ellipse">
            <a:avLst/>
          </a:prstGeom>
          <a:solidFill>
            <a:srgbClr val="D93D4A"/>
          </a:solidFill>
          <a:ln w="12700">
            <a:solidFill>
              <a:srgbClr val="D93D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0352" y="1261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18872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The story and its setting</a:t>
            </a:r>
            <a:endParaRPr lang="en-US" sz="1600" dirty="0"/>
          </a:p>
        </p:txBody>
      </p:sp>
      <p:sp>
        <p:nvSpPr>
          <p:cNvPr id="7" name="Agenda row 2"/>
          <p:cNvSpPr/>
          <p:nvPr/>
        </p:nvSpPr>
        <p:spPr>
          <a:xfrm>
            <a:off x="457200" y="1874520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8" name="Agenda number 2"/>
          <p:cNvSpPr/>
          <p:nvPr/>
        </p:nvSpPr>
        <p:spPr>
          <a:xfrm>
            <a:off x="530352" y="1947672"/>
            <a:ext cx="420624" cy="420624"/>
          </a:xfrm>
          <a:prstGeom prst="ellipse">
            <a:avLst/>
          </a:prstGeom>
          <a:solidFill>
            <a:srgbClr val="0E8F85"/>
          </a:solidFill>
          <a:ln w="12700">
            <a:solidFill>
              <a:srgbClr val="0E8F8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0352" y="1947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87452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The people around Marta</a:t>
            </a:r>
            <a:endParaRPr lang="en-US" sz="1600" dirty="0"/>
          </a:p>
        </p:txBody>
      </p:sp>
      <p:sp>
        <p:nvSpPr>
          <p:cNvPr id="11" name="Agenda row 3"/>
          <p:cNvSpPr/>
          <p:nvPr/>
        </p:nvSpPr>
        <p:spPr>
          <a:xfrm>
            <a:off x="457200" y="2560320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FFF1CC"/>
          </a:solidFill>
          <a:ln w="12700">
            <a:solidFill>
              <a:srgbClr val="FFF1CC"/>
            </a:solidFill>
            <a:prstDash val="solid"/>
          </a:ln>
        </p:spPr>
      </p:sp>
      <p:sp>
        <p:nvSpPr>
          <p:cNvPr id="12" name="Agenda number 3"/>
          <p:cNvSpPr/>
          <p:nvPr/>
        </p:nvSpPr>
        <p:spPr>
          <a:xfrm>
            <a:off x="530352" y="2633472"/>
            <a:ext cx="420624" cy="420624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0352" y="2633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56032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Marta's personality, trait by trait</a:t>
            </a:r>
            <a:endParaRPr lang="en-US" sz="1600" dirty="0"/>
          </a:p>
        </p:txBody>
      </p:sp>
      <p:sp>
        <p:nvSpPr>
          <p:cNvPr id="15" name="Agenda row 4"/>
          <p:cNvSpPr/>
          <p:nvPr/>
        </p:nvSpPr>
        <p:spPr>
          <a:xfrm>
            <a:off x="457200" y="3246120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E1ECFF"/>
          </a:solidFill>
          <a:ln w="12700">
            <a:solidFill>
              <a:srgbClr val="E1ECFF"/>
            </a:solidFill>
            <a:prstDash val="solid"/>
          </a:ln>
        </p:spPr>
      </p:sp>
      <p:sp>
        <p:nvSpPr>
          <p:cNvPr id="16" name="Agenda number 4"/>
          <p:cNvSpPr/>
          <p:nvPr/>
        </p:nvSpPr>
        <p:spPr>
          <a:xfrm>
            <a:off x="530352" y="3319272"/>
            <a:ext cx="420624" cy="420624"/>
          </a:xfrm>
          <a:prstGeom prst="ellipse">
            <a:avLst/>
          </a:prstGeom>
          <a:solidFill>
            <a:srgbClr val="2563D8"/>
          </a:solidFill>
          <a:ln w="12700">
            <a:solidFill>
              <a:srgbClr val="2563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352" y="3319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24612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The turning point</a:t>
            </a:r>
            <a:endParaRPr lang="en-US" sz="1600" dirty="0"/>
          </a:p>
        </p:txBody>
      </p:sp>
      <p:sp>
        <p:nvSpPr>
          <p:cNvPr id="19" name="Agenda row 5"/>
          <p:cNvSpPr/>
          <p:nvPr/>
        </p:nvSpPr>
        <p:spPr>
          <a:xfrm>
            <a:off x="457200" y="3931920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ECE5FA"/>
          </a:solidFill>
          <a:ln w="12700">
            <a:solidFill>
              <a:srgbClr val="ECE5FA"/>
            </a:solidFill>
            <a:prstDash val="solid"/>
          </a:ln>
        </p:spPr>
      </p:sp>
      <p:sp>
        <p:nvSpPr>
          <p:cNvPr id="20" name="Agenda number 5"/>
          <p:cNvSpPr/>
          <p:nvPr/>
        </p:nvSpPr>
        <p:spPr>
          <a:xfrm>
            <a:off x="530352" y="4005072"/>
            <a:ext cx="420624" cy="420624"/>
          </a:xfrm>
          <a:prstGeom prst="ellipse">
            <a:avLst/>
          </a:prstGeom>
          <a:solidFill>
            <a:srgbClr val="6A3FCF"/>
          </a:solidFill>
          <a:ln w="12700">
            <a:solidFill>
              <a:srgbClr val="6A3FC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0352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93192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Themes and growth</a:t>
            </a:r>
            <a:endParaRPr lang="en-US" sz="1600" dirty="0"/>
          </a:p>
        </p:txBody>
      </p:sp>
      <p:pic>
        <p:nvPicPr>
          <p:cNvPr id="23" name="Ranch illustration" descr="Illustration of a Texas cotton farm at suns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88720"/>
            <a:ext cx="3840480" cy="2157984"/>
          </a:xfrm>
          <a:prstGeom prst="rect">
            <a:avLst/>
          </a:prstGeom>
        </p:spPr>
      </p:pic>
      <p:sp>
        <p:nvSpPr>
          <p:cNvPr id="24" name="Hook card"/>
          <p:cNvSpPr/>
          <p:nvPr/>
        </p:nvSpPr>
        <p:spPr>
          <a:xfrm>
            <a:off x="4846320" y="3520440"/>
            <a:ext cx="3840480" cy="1051560"/>
          </a:xfrm>
          <a:prstGeom prst="roundRect">
            <a:avLst>
              <a:gd name="adj" fmla="val 869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029200" y="3611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</a:rPr>
              <a:t>The big question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029200" y="3886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an honor that is truly earned be taken away by money?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Story at a Glance</a:t>
            </a:r>
            <a:endParaRPr lang="en-US" sz="3200" dirty="0"/>
          </a:p>
        </p:txBody>
      </p:sp>
      <p:sp>
        <p:nvSpPr>
          <p:cNvPr id="3" name="Overview card"/>
          <p:cNvSpPr/>
          <p:nvPr/>
        </p:nvSpPr>
        <p:spPr>
          <a:xfrm>
            <a:off x="457200" y="1188720"/>
            <a:ext cx="4754880" cy="3383280"/>
          </a:xfrm>
          <a:prstGeom prst="roundRect">
            <a:avLst>
              <a:gd name="adj" fmla="val 2703"/>
            </a:avLst>
          </a:prstGeom>
          <a:solidFill>
            <a:srgbClr val="E1ECFF"/>
          </a:solidFill>
          <a:ln w="12700">
            <a:solidFill>
              <a:srgbClr val="E1ECFF"/>
            </a:solidFill>
            <a:prstDash val="solid"/>
          </a:ln>
        </p:spPr>
      </p:sp>
      <p:sp>
        <p:nvSpPr>
          <p:cNvPr id="4" name="Book circle"/>
          <p:cNvSpPr/>
          <p:nvPr/>
        </p:nvSpPr>
        <p:spPr>
          <a:xfrm>
            <a:off x="685800" y="1371600"/>
            <a:ext cx="548640" cy="548640"/>
          </a:xfrm>
          <a:prstGeom prst="ellipse">
            <a:avLst/>
          </a:prstGeom>
          <a:solidFill>
            <a:srgbClr val="2563D8"/>
          </a:solidFill>
          <a:ln w="12700">
            <a:solidFill>
              <a:srgbClr val="2563D8"/>
            </a:solidFill>
            <a:prstDash val="solid"/>
          </a:ln>
        </p:spPr>
      </p:sp>
      <p:pic>
        <p:nvPicPr>
          <p:cNvPr id="5" name="Book icon" descr="B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371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D8"/>
                </a:solidFill>
              </a:rPr>
              <a:t>About the story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48840"/>
            <a:ext cx="42976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</a:rPr>
              <a:t>Author: Marta Salinas, a Mexican-American writer who gives the narrator her own first name.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</a:rPr>
              <a:t>Genre: a first-person coming-of-age short story.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</a:rPr>
              <a:t>Setting: a small Texas school town, where class and ethnicity shape who gets recognized.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</a:rPr>
              <a:t>Question: will an honor Marta has earned actually be given to her?</a:t>
            </a:r>
            <a:endParaRPr lang="en-US" sz="1400" dirty="0"/>
          </a:p>
        </p:txBody>
      </p:sp>
      <p:sp>
        <p:nvSpPr>
          <p:cNvPr id="8" name="Stat card 1"/>
          <p:cNvSpPr/>
          <p:nvPr/>
        </p:nvSpPr>
        <p:spPr>
          <a:xfrm>
            <a:off x="5486400" y="1188720"/>
            <a:ext cx="3200400" cy="1042416"/>
          </a:xfrm>
          <a:prstGeom prst="roundRect">
            <a:avLst>
              <a:gd name="adj" fmla="val 8772"/>
            </a:avLst>
          </a:prstGeom>
          <a:solidFill>
            <a:srgbClr val="D93D4A"/>
          </a:solidFill>
          <a:ln w="12700">
            <a:solidFill>
              <a:srgbClr val="D93D4A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4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669280" y="126187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years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5669280" y="18105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of top grades behind Marta's claim</a:t>
            </a:r>
            <a:endParaRPr lang="en-US" sz="1200" dirty="0"/>
          </a:p>
        </p:txBody>
      </p:sp>
      <p:sp>
        <p:nvSpPr>
          <p:cNvPr id="11" name="Stat card 2"/>
          <p:cNvSpPr/>
          <p:nvPr/>
        </p:nvSpPr>
        <p:spPr>
          <a:xfrm>
            <a:off x="5486400" y="2359152"/>
            <a:ext cx="3200400" cy="1042416"/>
          </a:xfrm>
          <a:prstGeom prst="roundRect">
            <a:avLst>
              <a:gd name="adj" fmla="val 8772"/>
            </a:avLst>
          </a:prstGeom>
          <a:solidFill>
            <a:srgbClr val="0E8F85"/>
          </a:solidFill>
          <a:ln w="12700">
            <a:solidFill>
              <a:srgbClr val="0E8F8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4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669280" y="243230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0" y="298094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fee the school suddenly asks her family to pay</a:t>
            </a:r>
            <a:endParaRPr lang="en-US" sz="1200" dirty="0"/>
          </a:p>
        </p:txBody>
      </p:sp>
      <p:sp>
        <p:nvSpPr>
          <p:cNvPr id="14" name="Stat card 3"/>
          <p:cNvSpPr/>
          <p:nvPr/>
        </p:nvSpPr>
        <p:spPr>
          <a:xfrm>
            <a:off x="5486400" y="3529584"/>
            <a:ext cx="3200400" cy="1042416"/>
          </a:xfrm>
          <a:prstGeom prst="roundRect">
            <a:avLst>
              <a:gd name="adj" fmla="val 8772"/>
            </a:avLst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4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5669280" y="360273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jacket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0" y="41513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</a:rPr>
              <a:t>the symbol of everything she worked for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Plot in Four Moments</a:t>
            </a:r>
            <a:endParaRPr lang="en-US" sz="3200" dirty="0"/>
          </a:p>
        </p:txBody>
      </p:sp>
      <p:sp>
        <p:nvSpPr>
          <p:cNvPr id="3" name="Plot card 1"/>
          <p:cNvSpPr/>
          <p:nvPr/>
        </p:nvSpPr>
        <p:spPr>
          <a:xfrm>
            <a:off x="457200" y="1188720"/>
            <a:ext cx="1920240" cy="3383280"/>
          </a:xfrm>
          <a:prstGeom prst="roundRect">
            <a:avLst>
              <a:gd name="adj" fmla="val 4762"/>
            </a:avLst>
          </a:prstGeom>
          <a:solidFill>
            <a:srgbClr val="FDE6E7"/>
          </a:solidFill>
          <a:ln w="12700">
            <a:solidFill>
              <a:srgbClr val="FDE6E7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4000"/>
              </a:srgbClr>
            </a:outerShdw>
          </a:effectLst>
        </p:spPr>
      </p:sp>
      <p:sp>
        <p:nvSpPr>
          <p:cNvPr id="4" name="Plot header 1"/>
          <p:cNvSpPr/>
          <p:nvPr/>
        </p:nvSpPr>
        <p:spPr>
          <a:xfrm>
            <a:off x="457200" y="118872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D93D4A"/>
          </a:solidFill>
          <a:ln w="12700">
            <a:solidFill>
              <a:srgbClr val="D93D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1887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Exposition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03120"/>
            <a:ext cx="1645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</a:rPr>
              <a:t>Marta, raised by her grandparents, has earned top grades for eight years. The jacket is the prize she dreams of.</a:t>
            </a:r>
            <a:endParaRPr lang="en-US" sz="1400" dirty="0"/>
          </a:p>
        </p:txBody>
      </p:sp>
      <p:sp>
        <p:nvSpPr>
          <p:cNvPr id="8" name="Plot card 2"/>
          <p:cNvSpPr/>
          <p:nvPr/>
        </p:nvSpPr>
        <p:spPr>
          <a:xfrm>
            <a:off x="2560320" y="1188720"/>
            <a:ext cx="1920240" cy="3383280"/>
          </a:xfrm>
          <a:prstGeom prst="roundRect">
            <a:avLst>
              <a:gd name="adj" fmla="val 4762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4000"/>
              </a:srgbClr>
            </a:outerShdw>
          </a:effectLst>
        </p:spPr>
      </p:sp>
      <p:sp>
        <p:nvSpPr>
          <p:cNvPr id="9" name="Plot header 2"/>
          <p:cNvSpPr/>
          <p:nvPr/>
        </p:nvSpPr>
        <p:spPr>
          <a:xfrm>
            <a:off x="2560320" y="118872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0E8F85"/>
          </a:solidFill>
          <a:ln w="12700">
            <a:solidFill>
              <a:srgbClr val="0E8F8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97480" y="11887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11887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Conflict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103120"/>
            <a:ext cx="1645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</a:rPr>
              <a:t>A more privileged classmate may get the jacket, and Marta fears her family's poverty will count against her.</a:t>
            </a:r>
            <a:endParaRPr lang="en-US" sz="1400" dirty="0"/>
          </a:p>
        </p:txBody>
      </p:sp>
      <p:sp>
        <p:nvSpPr>
          <p:cNvPr id="13" name="Plot card 3"/>
          <p:cNvSpPr/>
          <p:nvPr/>
        </p:nvSpPr>
        <p:spPr>
          <a:xfrm>
            <a:off x="4663440" y="1188720"/>
            <a:ext cx="1920240" cy="3383280"/>
          </a:xfrm>
          <a:prstGeom prst="roundRect">
            <a:avLst>
              <a:gd name="adj" fmla="val 4762"/>
            </a:avLst>
          </a:prstGeom>
          <a:solidFill>
            <a:srgbClr val="FFF1CC"/>
          </a:solidFill>
          <a:ln w="12700">
            <a:solidFill>
              <a:srgbClr val="FFF1CC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4000"/>
              </a:srgbClr>
            </a:outerShdw>
          </a:effectLst>
        </p:spPr>
      </p:sp>
      <p:sp>
        <p:nvSpPr>
          <p:cNvPr id="14" name="Plot header 3"/>
          <p:cNvSpPr/>
          <p:nvPr/>
        </p:nvSpPr>
        <p:spPr>
          <a:xfrm>
            <a:off x="4663440" y="118872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11887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11887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Climax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2103120"/>
            <a:ext cx="1645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</a:rPr>
              <a:t>She is told she must pay $15. Her grandfather refuses to pay for an award that should be free.</a:t>
            </a:r>
            <a:endParaRPr lang="en-US" sz="1400" dirty="0"/>
          </a:p>
        </p:txBody>
      </p:sp>
      <p:sp>
        <p:nvSpPr>
          <p:cNvPr id="18" name="Plot card 4"/>
          <p:cNvSpPr/>
          <p:nvPr/>
        </p:nvSpPr>
        <p:spPr>
          <a:xfrm>
            <a:off x="6766560" y="1188720"/>
            <a:ext cx="1920240" cy="3383280"/>
          </a:xfrm>
          <a:prstGeom prst="roundRect">
            <a:avLst>
              <a:gd name="adj" fmla="val 4762"/>
            </a:avLst>
          </a:prstGeom>
          <a:solidFill>
            <a:srgbClr val="E1ECFF"/>
          </a:solidFill>
          <a:ln w="12700">
            <a:solidFill>
              <a:srgbClr val="E1ECFF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4000"/>
              </a:srgbClr>
            </a:outerShdw>
          </a:effectLst>
        </p:spPr>
      </p:sp>
      <p:sp>
        <p:nvSpPr>
          <p:cNvPr id="19" name="Plot header 4"/>
          <p:cNvSpPr/>
          <p:nvPr/>
        </p:nvSpPr>
        <p:spPr>
          <a:xfrm>
            <a:off x="6766560" y="118872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2563D8"/>
          </a:solidFill>
          <a:ln w="12700">
            <a:solidFill>
              <a:srgbClr val="2563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11887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11887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Resolution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2103120"/>
            <a:ext cx="1645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</a:rPr>
              <a:t>Marta speaks up in front of the officials. The school gives her the jacket without charge.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Marta's World</a:t>
            </a:r>
            <a:endParaRPr lang="en-US" sz="3200" dirty="0"/>
          </a:p>
        </p:txBody>
      </p:sp>
      <p:pic>
        <p:nvPicPr>
          <p:cNvPr id="3" name="Home illustration" descr="Cotton fa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023360" cy="2263140"/>
          </a:xfrm>
          <a:prstGeom prst="rect">
            <a:avLst/>
          </a:prstGeom>
        </p:spPr>
      </p:pic>
      <p:pic>
        <p:nvPicPr>
          <p:cNvPr id="4" name="School illustration" descr="Schoolhou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88720"/>
            <a:ext cx="4023360" cy="2263140"/>
          </a:xfrm>
          <a:prstGeom prst="rect">
            <a:avLst/>
          </a:prstGeom>
        </p:spPr>
      </p:pic>
      <p:sp>
        <p:nvSpPr>
          <p:cNvPr id="5" name="Home caption"/>
          <p:cNvSpPr/>
          <p:nvPr/>
        </p:nvSpPr>
        <p:spPr>
          <a:xfrm>
            <a:off x="457200" y="361188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1CC"/>
          </a:solidFill>
          <a:ln w="12700">
            <a:solidFill>
              <a:srgbClr val="FFF1CC"/>
            </a:solidFill>
            <a:prstDash val="solid"/>
          </a:ln>
        </p:spPr>
      </p:sp>
      <p:sp>
        <p:nvSpPr>
          <p:cNvPr id="6" name="School caption"/>
          <p:cNvSpPr/>
          <p:nvPr/>
        </p:nvSpPr>
        <p:spPr>
          <a:xfrm>
            <a:off x="4663440" y="361188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E1ECFF"/>
          </a:solidFill>
          <a:ln w="12700">
            <a:solidFill>
              <a:srgbClr val="E1ECFF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40080" y="37033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7800"/>
                </a:solidFill>
              </a:rPr>
              <a:t>Home. 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</a:rPr>
              <a:t>A Texas farming family where money is tight and her grandparents raise her.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846320" y="37033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D8"/>
                </a:solidFill>
              </a:rPr>
              <a:t>School. 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</a:rPr>
              <a:t>Where Marta excels, and where class and ethnicity shape who is honored.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People Who Shape Marta</a:t>
            </a:r>
            <a:endParaRPr lang="en-US" sz="3200" dirty="0"/>
          </a:p>
        </p:txBody>
      </p:sp>
      <p:sp>
        <p:nvSpPr>
          <p:cNvPr id="3" name="Character card Marta"/>
          <p:cNvSpPr/>
          <p:nvPr/>
        </p:nvSpPr>
        <p:spPr>
          <a:xfrm>
            <a:off x="457200" y="1188720"/>
            <a:ext cx="1920240" cy="3383280"/>
          </a:xfrm>
          <a:prstGeom prst="roundRect">
            <a:avLst>
              <a:gd name="adj" fmla="val 4762"/>
            </a:avLst>
          </a:prstGeom>
          <a:solidFill>
            <a:srgbClr val="FDE6E7"/>
          </a:solidFill>
          <a:ln w="12700">
            <a:solidFill>
              <a:srgbClr val="FDE6E7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4000"/>
              </a:srgbClr>
            </a:outerShdw>
          </a:effectLst>
        </p:spPr>
      </p:sp>
      <p:pic>
        <p:nvPicPr>
          <p:cNvPr id="4" name="Marta portrait" descr="Illustrated portrait of Mar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2588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651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3D4A"/>
                </a:solidFill>
              </a:rPr>
              <a:t>Marta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310896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213D"/>
                </a:solidFill>
              </a:rPr>
              <a:t>Narrator. Bright, shy and fiercely proud of what she earned.</a:t>
            </a:r>
            <a:endParaRPr lang="en-US" sz="1400" dirty="0"/>
          </a:p>
        </p:txBody>
      </p:sp>
      <p:sp>
        <p:nvSpPr>
          <p:cNvPr id="7" name="Character card Grandfather"/>
          <p:cNvSpPr/>
          <p:nvPr/>
        </p:nvSpPr>
        <p:spPr>
          <a:xfrm>
            <a:off x="2560320" y="1188720"/>
            <a:ext cx="1920240" cy="3383280"/>
          </a:xfrm>
          <a:prstGeom prst="roundRect">
            <a:avLst>
              <a:gd name="adj" fmla="val 4762"/>
            </a:avLst>
          </a:prstGeom>
          <a:solidFill>
            <a:srgbClr val="E1ECFF"/>
          </a:solidFill>
          <a:ln w="12700">
            <a:solidFill>
              <a:srgbClr val="E1ECFF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4000"/>
              </a:srgbClr>
            </a:outerShdw>
          </a:effectLst>
        </p:spPr>
      </p:sp>
      <p:pic>
        <p:nvPicPr>
          <p:cNvPr id="8" name="Grandfather portrait" descr="Illustrated portrait of Grandfath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325880"/>
            <a:ext cx="1188720" cy="11887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651760" y="2651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D8"/>
                </a:solidFill>
              </a:rPr>
              <a:t>Grandfather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2697480" y="310896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213D"/>
                </a:solidFill>
              </a:rPr>
              <a:t>Her moral anchor. Dignity matters more than money.</a:t>
            </a:r>
            <a:endParaRPr lang="en-US" sz="1400" dirty="0"/>
          </a:p>
        </p:txBody>
      </p:sp>
      <p:sp>
        <p:nvSpPr>
          <p:cNvPr id="11" name="Character card Joann"/>
          <p:cNvSpPr/>
          <p:nvPr/>
        </p:nvSpPr>
        <p:spPr>
          <a:xfrm>
            <a:off x="4663440" y="1188720"/>
            <a:ext cx="1920240" cy="3383280"/>
          </a:xfrm>
          <a:prstGeom prst="roundRect">
            <a:avLst>
              <a:gd name="adj" fmla="val 4762"/>
            </a:avLst>
          </a:prstGeom>
          <a:solidFill>
            <a:srgbClr val="ECE5FA"/>
          </a:solidFill>
          <a:ln w="12700">
            <a:solidFill>
              <a:srgbClr val="ECE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4000"/>
              </a:srgbClr>
            </a:outerShdw>
          </a:effectLst>
        </p:spPr>
      </p:sp>
      <p:pic>
        <p:nvPicPr>
          <p:cNvPr id="12" name="Joann portrait" descr="Illustrated portrait of Joan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325880"/>
            <a:ext cx="1188720" cy="11887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54880" y="2651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A3FCF"/>
                </a:solidFill>
              </a:rPr>
              <a:t>Joann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4800600" y="310896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213D"/>
                </a:solidFill>
              </a:rPr>
              <a:t>A privileged classmate who stands for what Marta can't match.</a:t>
            </a:r>
            <a:endParaRPr lang="en-US" sz="1400" dirty="0"/>
          </a:p>
        </p:txBody>
      </p:sp>
      <p:sp>
        <p:nvSpPr>
          <p:cNvPr id="15" name="Character card The officials"/>
          <p:cNvSpPr/>
          <p:nvPr/>
        </p:nvSpPr>
        <p:spPr>
          <a:xfrm>
            <a:off x="6766560" y="1188720"/>
            <a:ext cx="1920240" cy="3383280"/>
          </a:xfrm>
          <a:prstGeom prst="roundRect">
            <a:avLst>
              <a:gd name="adj" fmla="val 4762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4000"/>
              </a:srgbClr>
            </a:outerShdw>
          </a:effectLst>
        </p:spPr>
      </p:sp>
      <p:pic>
        <p:nvPicPr>
          <p:cNvPr id="16" name="The officials portrait" descr="Illustrated portrait of The official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325880"/>
            <a:ext cx="1188720" cy="11887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858000" y="2651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8F85"/>
                </a:solidFill>
              </a:rPr>
              <a:t>The officials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6903720" y="310896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213D"/>
                </a:solidFill>
              </a:rPr>
              <a:t>Mr. Schmidt and Mr. Boone, who hold the power to grant the prize.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Marta's Personality Profile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97280"/>
          <a:ext cx="44805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120640" y="12344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Determined</a:t>
            </a:r>
            <a:endParaRPr lang="en-US" sz="1400" dirty="0"/>
          </a:p>
        </p:txBody>
      </p:sp>
      <p:sp>
        <p:nvSpPr>
          <p:cNvPr id="5" name="Track Determined"/>
          <p:cNvSpPr/>
          <p:nvPr/>
        </p:nvSpPr>
        <p:spPr>
          <a:xfrm>
            <a:off x="6492240" y="1316736"/>
            <a:ext cx="2194560" cy="201168"/>
          </a:xfrm>
          <a:prstGeom prst="roundRect">
            <a:avLst>
              <a:gd name="adj" fmla="val 50000"/>
            </a:avLst>
          </a:prstGeom>
          <a:solidFill>
            <a:srgbClr val="E6E9F2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6" name="Bar Determined"/>
          <p:cNvSpPr/>
          <p:nvPr/>
        </p:nvSpPr>
        <p:spPr>
          <a:xfrm>
            <a:off x="6492240" y="1316736"/>
            <a:ext cx="1975104" cy="201168"/>
          </a:xfrm>
          <a:prstGeom prst="roundRect">
            <a:avLst>
              <a:gd name="adj" fmla="val 50000"/>
            </a:avLst>
          </a:prstGeom>
          <a:solidFill>
            <a:srgbClr val="D93D4A"/>
          </a:solidFill>
          <a:ln w="12700">
            <a:solidFill>
              <a:srgbClr val="D93D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0" y="176479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Proud</a:t>
            </a:r>
            <a:endParaRPr lang="en-US" sz="1400" dirty="0"/>
          </a:p>
        </p:txBody>
      </p:sp>
      <p:sp>
        <p:nvSpPr>
          <p:cNvPr id="8" name="Track Proud"/>
          <p:cNvSpPr/>
          <p:nvPr/>
        </p:nvSpPr>
        <p:spPr>
          <a:xfrm>
            <a:off x="6492240" y="1847088"/>
            <a:ext cx="2194560" cy="201168"/>
          </a:xfrm>
          <a:prstGeom prst="roundRect">
            <a:avLst>
              <a:gd name="adj" fmla="val 50000"/>
            </a:avLst>
          </a:prstGeom>
          <a:solidFill>
            <a:srgbClr val="E6E9F2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9" name="Bar Proud"/>
          <p:cNvSpPr/>
          <p:nvPr/>
        </p:nvSpPr>
        <p:spPr>
          <a:xfrm>
            <a:off x="6492240" y="1847088"/>
            <a:ext cx="1755648" cy="201168"/>
          </a:xfrm>
          <a:prstGeom prst="roundRect">
            <a:avLst>
              <a:gd name="adj" fmla="val 50000"/>
            </a:avLst>
          </a:prstGeom>
          <a:solidFill>
            <a:srgbClr val="0E8F85"/>
          </a:solidFill>
          <a:ln w="12700">
            <a:solidFill>
              <a:srgbClr val="0E8F8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120640" y="229514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Shy</a:t>
            </a:r>
            <a:endParaRPr lang="en-US" sz="1400" dirty="0"/>
          </a:p>
        </p:txBody>
      </p:sp>
      <p:sp>
        <p:nvSpPr>
          <p:cNvPr id="11" name="Track Shy"/>
          <p:cNvSpPr/>
          <p:nvPr/>
        </p:nvSpPr>
        <p:spPr>
          <a:xfrm>
            <a:off x="6492240" y="2377440"/>
            <a:ext cx="2194560" cy="201168"/>
          </a:xfrm>
          <a:prstGeom prst="roundRect">
            <a:avLst>
              <a:gd name="adj" fmla="val 50000"/>
            </a:avLst>
          </a:prstGeom>
          <a:solidFill>
            <a:srgbClr val="E6E9F2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12" name="Bar Shy"/>
          <p:cNvSpPr/>
          <p:nvPr/>
        </p:nvSpPr>
        <p:spPr>
          <a:xfrm>
            <a:off x="6492240" y="2377440"/>
            <a:ext cx="1536192" cy="201168"/>
          </a:xfrm>
          <a:prstGeom prst="roundRect">
            <a:avLst>
              <a:gd name="adj" fmla="val 50000"/>
            </a:avLst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120640" y="282549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Loyal</a:t>
            </a:r>
            <a:endParaRPr lang="en-US" sz="1400" dirty="0"/>
          </a:p>
        </p:txBody>
      </p:sp>
      <p:sp>
        <p:nvSpPr>
          <p:cNvPr id="14" name="Track Loyal"/>
          <p:cNvSpPr/>
          <p:nvPr/>
        </p:nvSpPr>
        <p:spPr>
          <a:xfrm>
            <a:off x="6492240" y="2907792"/>
            <a:ext cx="2194560" cy="201168"/>
          </a:xfrm>
          <a:prstGeom prst="roundRect">
            <a:avLst>
              <a:gd name="adj" fmla="val 50000"/>
            </a:avLst>
          </a:prstGeom>
          <a:solidFill>
            <a:srgbClr val="E6E9F2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15" name="Bar Loyal"/>
          <p:cNvSpPr/>
          <p:nvPr/>
        </p:nvSpPr>
        <p:spPr>
          <a:xfrm>
            <a:off x="6492240" y="2907792"/>
            <a:ext cx="1755648" cy="201168"/>
          </a:xfrm>
          <a:prstGeom prst="roundRect">
            <a:avLst>
              <a:gd name="adj" fmla="val 50000"/>
            </a:avLst>
          </a:prstGeom>
          <a:solidFill>
            <a:srgbClr val="2563D8"/>
          </a:solidFill>
          <a:ln w="12700">
            <a:solidFill>
              <a:srgbClr val="2563D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120640" y="33558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Principled</a:t>
            </a:r>
            <a:endParaRPr lang="en-US" sz="1400" dirty="0"/>
          </a:p>
        </p:txBody>
      </p:sp>
      <p:sp>
        <p:nvSpPr>
          <p:cNvPr id="17" name="Track Principled"/>
          <p:cNvSpPr/>
          <p:nvPr/>
        </p:nvSpPr>
        <p:spPr>
          <a:xfrm>
            <a:off x="6492240" y="3438144"/>
            <a:ext cx="2194560" cy="201168"/>
          </a:xfrm>
          <a:prstGeom prst="roundRect">
            <a:avLst>
              <a:gd name="adj" fmla="val 50000"/>
            </a:avLst>
          </a:prstGeom>
          <a:solidFill>
            <a:srgbClr val="E6E9F2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18" name="Bar Principled"/>
          <p:cNvSpPr/>
          <p:nvPr/>
        </p:nvSpPr>
        <p:spPr>
          <a:xfrm>
            <a:off x="6492240" y="3438144"/>
            <a:ext cx="1975104" cy="201168"/>
          </a:xfrm>
          <a:prstGeom prst="roundRect">
            <a:avLst>
              <a:gd name="adj" fmla="val 50000"/>
            </a:avLst>
          </a:prstGeom>
          <a:solidFill>
            <a:srgbClr val="6A3FCF"/>
          </a:solidFill>
          <a:ln w="12700">
            <a:solidFill>
              <a:srgbClr val="6A3FC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120640" y="38862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Courageous</a:t>
            </a:r>
            <a:endParaRPr lang="en-US" sz="1400" dirty="0"/>
          </a:p>
        </p:txBody>
      </p:sp>
      <p:sp>
        <p:nvSpPr>
          <p:cNvPr id="20" name="Track Courageous"/>
          <p:cNvSpPr/>
          <p:nvPr/>
        </p:nvSpPr>
        <p:spPr>
          <a:xfrm>
            <a:off x="6492240" y="3968496"/>
            <a:ext cx="2194560" cy="201168"/>
          </a:xfrm>
          <a:prstGeom prst="roundRect">
            <a:avLst>
              <a:gd name="adj" fmla="val 50000"/>
            </a:avLst>
          </a:prstGeom>
          <a:solidFill>
            <a:srgbClr val="E6E9F2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21" name="Bar Courageous"/>
          <p:cNvSpPr/>
          <p:nvPr/>
        </p:nvSpPr>
        <p:spPr>
          <a:xfrm>
            <a:off x="6492240" y="3968496"/>
            <a:ext cx="1755648" cy="201168"/>
          </a:xfrm>
          <a:prstGeom prst="roundRect">
            <a:avLst>
              <a:gd name="adj" fmla="val 50000"/>
            </a:avLst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120640" y="4480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475"/>
                </a:solidFill>
              </a:rPr>
              <a:t>Scores are the presenter's interpretation, not text data.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Determined and Proud</a:t>
            </a:r>
            <a:endParaRPr lang="en-US" sz="3200" dirty="0"/>
          </a:p>
        </p:txBody>
      </p:sp>
      <p:sp>
        <p:nvSpPr>
          <p:cNvPr id="3" name="Panel"/>
          <p:cNvSpPr/>
          <p:nvPr/>
        </p:nvSpPr>
        <p:spPr>
          <a:xfrm>
            <a:off x="457200" y="1188720"/>
            <a:ext cx="2743200" cy="3429000"/>
          </a:xfrm>
          <a:prstGeom prst="roundRect">
            <a:avLst>
              <a:gd name="adj" fmla="val 3333"/>
            </a:avLst>
          </a:prstGeom>
          <a:solidFill>
            <a:srgbClr val="D93D4A"/>
          </a:solidFill>
          <a:ln w="12700">
            <a:solidFill>
              <a:srgbClr val="D93D4A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4000"/>
              </a:srgbClr>
            </a:outerShdw>
          </a:effectLst>
        </p:spPr>
      </p:sp>
      <p:sp>
        <p:nvSpPr>
          <p:cNvPr id="4" name="Medal circle"/>
          <p:cNvSpPr/>
          <p:nvPr/>
        </p:nvSpPr>
        <p:spPr>
          <a:xfrm>
            <a:off x="1325880" y="1417320"/>
            <a:ext cx="1005840" cy="1005840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pic>
        <p:nvPicPr>
          <p:cNvPr id="5" name="Medal icon" descr="Med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340" y="16687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606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Achiever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1546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Marta measures herself by effort, not by comfort or status.</a:t>
            </a:r>
            <a:endParaRPr lang="en-US" sz="1400" dirty="0"/>
          </a:p>
        </p:txBody>
      </p:sp>
      <p:sp>
        <p:nvSpPr>
          <p:cNvPr id="8" name="Evidence 1"/>
          <p:cNvSpPr/>
          <p:nvPr/>
        </p:nvSpPr>
        <p:spPr>
          <a:xfrm>
            <a:off x="3429000" y="1188720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FDE6E7"/>
          </a:solidFill>
          <a:ln w="12700">
            <a:solidFill>
              <a:srgbClr val="FDE6E7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4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611880" y="12801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93D4A"/>
                </a:solidFill>
              </a:rPr>
              <a:t>What she does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611880" y="16002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</a:rPr>
              <a:t>Studies hard for eight years and treats the jacket as the goal that gives that work meaning.</a:t>
            </a:r>
            <a:endParaRPr lang="en-US" sz="1400" dirty="0"/>
          </a:p>
        </p:txBody>
      </p:sp>
      <p:sp>
        <p:nvSpPr>
          <p:cNvPr id="11" name="Evidence 2"/>
          <p:cNvSpPr/>
          <p:nvPr/>
        </p:nvSpPr>
        <p:spPr>
          <a:xfrm>
            <a:off x="3429000" y="2359152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FFF1CC"/>
          </a:solidFill>
          <a:ln w="12700">
            <a:solidFill>
              <a:srgbClr val="FFF1CC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4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611880" y="24505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07800"/>
                </a:solidFill>
              </a:rPr>
              <a:t>What it shows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277063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</a:rPr>
              <a:t>Persistence and delayed reward. She believes in earning things honestly.</a:t>
            </a:r>
            <a:endParaRPr lang="en-US" sz="1400" dirty="0"/>
          </a:p>
        </p:txBody>
      </p:sp>
      <p:sp>
        <p:nvSpPr>
          <p:cNvPr id="14" name="Evidence 3"/>
          <p:cNvSpPr/>
          <p:nvPr/>
        </p:nvSpPr>
        <p:spPr>
          <a:xfrm>
            <a:off x="3429000" y="3529584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ECE5FA"/>
          </a:solidFill>
          <a:ln w="12700">
            <a:solidFill>
              <a:srgbClr val="ECE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4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3611880" y="36210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A3FCF"/>
                </a:solidFill>
              </a:rPr>
              <a:t>Why her pride matters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611880" y="3941064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</a:rPr>
              <a:t>It is not arrogance. It is her defense against being treated as less than the others.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Shy, but Braver Than She Knows</a:t>
            </a:r>
            <a:endParaRPr lang="en-US" sz="3200" dirty="0"/>
          </a:p>
        </p:txBody>
      </p:sp>
      <p:sp>
        <p:nvSpPr>
          <p:cNvPr id="3" name="Chart card"/>
          <p:cNvSpPr/>
          <p:nvPr/>
        </p:nvSpPr>
        <p:spPr>
          <a:xfrm>
            <a:off x="457200" y="1188720"/>
            <a:ext cx="5029200" cy="3246120"/>
          </a:xfrm>
          <a:prstGeom prst="roundRect">
            <a:avLst>
              <a:gd name="adj" fmla="val 281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48463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Notes card"/>
          <p:cNvSpPr/>
          <p:nvPr/>
        </p:nvSpPr>
        <p:spPr>
          <a:xfrm>
            <a:off x="5669280" y="1188720"/>
            <a:ext cx="3017520" cy="3246120"/>
          </a:xfrm>
          <a:prstGeom prst="roundRect">
            <a:avLst>
              <a:gd name="adj" fmla="val 3030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4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852160" y="1325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8F85"/>
                </a:solidFill>
              </a:rPr>
              <a:t>Reading the arc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178308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</a:rPr>
              <a:t>Anxiety peaks when she thinks she must give up the jacket.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</a:rPr>
              <a:t>Confidence climbs once she decides to speak.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</a:rPr>
              <a:t>Shyness never vanishes. She acts despite it.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526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475"/>
                </a:solidFill>
              </a:rPr>
              <a:t>Chart is an interpretive sketch by the presenter, not data from the text.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Her Grandfather's Influence</a:t>
            </a:r>
            <a:endParaRPr lang="en-US" sz="3200" dirty="0"/>
          </a:p>
        </p:txBody>
      </p:sp>
      <p:sp>
        <p:nvSpPr>
          <p:cNvPr id="3" name="Grandfather card"/>
          <p:cNvSpPr/>
          <p:nvPr/>
        </p:nvSpPr>
        <p:spPr>
          <a:xfrm>
            <a:off x="457200" y="1188720"/>
            <a:ext cx="4023360" cy="3429000"/>
          </a:xfrm>
          <a:prstGeom prst="roundRect">
            <a:avLst>
              <a:gd name="adj" fmla="val 2667"/>
            </a:avLst>
          </a:prstGeom>
          <a:solidFill>
            <a:srgbClr val="E1ECFF"/>
          </a:solidFill>
          <a:ln w="12700">
            <a:solidFill>
              <a:srgbClr val="E1ECFF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4000"/>
              </a:srgbClr>
            </a:outerShdw>
          </a:effectLst>
        </p:spPr>
      </p:sp>
      <p:pic>
        <p:nvPicPr>
          <p:cNvPr id="4" name="Grandfather portrait" descr="Illustrated portrait of grandfath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13258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D8"/>
                </a:solidFill>
              </a:rPr>
              <a:t>What he teaches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42316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</a:rPr>
              <a:t>Honest work earns respect.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</a:rPr>
              <a:t>Dignity is not for sale.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</a:rPr>
              <a:t>Do not pay for what you rightfully won.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</a:rPr>
              <a:t>Speak for yourself, even when it is hard.</a:t>
            </a:r>
            <a:endParaRPr lang="en-US" sz="1500" dirty="0"/>
          </a:p>
        </p:txBody>
      </p:sp>
      <p:sp>
        <p:nvSpPr>
          <p:cNvPr id="7" name="Marta card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2667"/>
            </a:avLst>
          </a:prstGeom>
          <a:solidFill>
            <a:srgbClr val="FDE6E7"/>
          </a:solidFill>
          <a:ln w="12700">
            <a:solidFill>
              <a:srgbClr val="FDE6E7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4000"/>
              </a:srgbClr>
            </a:outerShdw>
          </a:effectLst>
        </p:spPr>
      </p:sp>
      <p:pic>
        <p:nvPicPr>
          <p:cNvPr id="8" name="Marta portrait" descr="Illustrated portrait of Mar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25880"/>
            <a:ext cx="914400" cy="9144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943600" y="13258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D4A"/>
                </a:solidFill>
              </a:rPr>
              <a:t>How Marta absorbs it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4937760" y="242316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</a:rPr>
              <a:t>At first she is hurt and afraid.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</a:rPr>
              <a:t>Then she sees his refusal protects her self-respect.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</a:rPr>
              <a:t>She borrows his strength until she finds her own.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Turning Point</a:t>
            </a:r>
            <a:endParaRPr lang="en-US" sz="3200" dirty="0"/>
          </a:p>
        </p:txBody>
      </p:sp>
      <p:sp>
        <p:nvSpPr>
          <p:cNvPr id="3" name="Jacket card"/>
          <p:cNvSpPr/>
          <p:nvPr/>
        </p:nvSpPr>
        <p:spPr>
          <a:xfrm>
            <a:off x="457200" y="1188720"/>
            <a:ext cx="3474720" cy="3429000"/>
          </a:xfrm>
          <a:prstGeom prst="roundRect">
            <a:avLst>
              <a:gd name="adj" fmla="val 2667"/>
            </a:avLst>
          </a:prstGeom>
          <a:solidFill>
            <a:srgbClr val="FFF1CC"/>
          </a:solidFill>
          <a:ln w="12700">
            <a:solidFill>
              <a:srgbClr val="FFF1CC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4000"/>
              </a:srgbClr>
            </a:outerShdw>
          </a:effectLst>
        </p:spPr>
      </p:sp>
      <p:pic>
        <p:nvPicPr>
          <p:cNvPr id="4" name="Jacket illustration" descr="Maroon and gold scholarship jack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3200400" cy="3200400"/>
          </a:xfrm>
          <a:prstGeom prst="rect">
            <a:avLst/>
          </a:prstGeom>
        </p:spPr>
      </p:pic>
      <p:sp>
        <p:nvSpPr>
          <p:cNvPr id="5" name="Step card Hope"/>
          <p:cNvSpPr/>
          <p:nvPr/>
        </p:nvSpPr>
        <p:spPr>
          <a:xfrm>
            <a:off x="4160520" y="1188720"/>
            <a:ext cx="4526280" cy="1051560"/>
          </a:xfrm>
          <a:prstGeom prst="roundRect">
            <a:avLst>
              <a:gd name="adj" fmla="val 8696"/>
            </a:avLst>
          </a:prstGeom>
          <a:solidFill>
            <a:srgbClr val="FFF1CC"/>
          </a:solidFill>
          <a:ln w="12700">
            <a:solidFill>
              <a:srgbClr val="FFF1CC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4000"/>
              </a:srgbClr>
            </a:outerShdw>
          </a:effectLst>
        </p:spPr>
      </p:sp>
      <p:sp>
        <p:nvSpPr>
          <p:cNvPr id="6" name="Step circle Hope"/>
          <p:cNvSpPr/>
          <p:nvPr/>
        </p:nvSpPr>
        <p:spPr>
          <a:xfrm>
            <a:off x="4297680" y="1444752"/>
            <a:ext cx="548640" cy="548640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297680" y="1444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02920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07800"/>
                </a:solidFill>
              </a:rPr>
              <a:t>Hope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029200" y="162763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</a:rPr>
              <a:t>Eight years of work should end with the jacket in her hands.</a:t>
            </a:r>
            <a:endParaRPr lang="en-US" sz="1400" dirty="0"/>
          </a:p>
        </p:txBody>
      </p:sp>
      <p:sp>
        <p:nvSpPr>
          <p:cNvPr id="10" name="Step card Shock"/>
          <p:cNvSpPr/>
          <p:nvPr/>
        </p:nvSpPr>
        <p:spPr>
          <a:xfrm>
            <a:off x="4160520" y="2359152"/>
            <a:ext cx="4526280" cy="1051560"/>
          </a:xfrm>
          <a:prstGeom prst="roundRect">
            <a:avLst>
              <a:gd name="adj" fmla="val 8696"/>
            </a:avLst>
          </a:prstGeom>
          <a:solidFill>
            <a:srgbClr val="FDE6E7"/>
          </a:solidFill>
          <a:ln w="12700">
            <a:solidFill>
              <a:srgbClr val="FDE6E7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4000"/>
              </a:srgbClr>
            </a:outerShdw>
          </a:effectLst>
        </p:spPr>
      </p:sp>
      <p:sp>
        <p:nvSpPr>
          <p:cNvPr id="11" name="Step circle Shock"/>
          <p:cNvSpPr/>
          <p:nvPr/>
        </p:nvSpPr>
        <p:spPr>
          <a:xfrm>
            <a:off x="4297680" y="2615184"/>
            <a:ext cx="548640" cy="548640"/>
          </a:xfrm>
          <a:prstGeom prst="ellipse">
            <a:avLst/>
          </a:prstGeom>
          <a:solidFill>
            <a:srgbClr val="D93D4A"/>
          </a:solidFill>
          <a:ln w="12700">
            <a:solidFill>
              <a:srgbClr val="D93D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297680" y="2615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0" y="24505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93D4A"/>
                </a:solidFill>
              </a:rPr>
              <a:t>Shock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0" y="2798064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</a:rPr>
              <a:t>The $15 fee makes her fear the honor is out of reach.</a:t>
            </a:r>
            <a:endParaRPr lang="en-US" sz="1400" dirty="0"/>
          </a:p>
        </p:txBody>
      </p:sp>
      <p:sp>
        <p:nvSpPr>
          <p:cNvPr id="15" name="Step card Resolve"/>
          <p:cNvSpPr/>
          <p:nvPr/>
        </p:nvSpPr>
        <p:spPr>
          <a:xfrm>
            <a:off x="4160520" y="3529584"/>
            <a:ext cx="4526280" cy="1051560"/>
          </a:xfrm>
          <a:prstGeom prst="roundRect">
            <a:avLst>
              <a:gd name="adj" fmla="val 8696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4000"/>
              </a:srgbClr>
            </a:outerShdw>
          </a:effectLst>
        </p:spPr>
      </p:sp>
      <p:sp>
        <p:nvSpPr>
          <p:cNvPr id="16" name="Step circle Resolve"/>
          <p:cNvSpPr/>
          <p:nvPr/>
        </p:nvSpPr>
        <p:spPr>
          <a:xfrm>
            <a:off x="4297680" y="3785616"/>
            <a:ext cx="548640" cy="548640"/>
          </a:xfrm>
          <a:prstGeom prst="ellipse">
            <a:avLst/>
          </a:prstGeom>
          <a:solidFill>
            <a:srgbClr val="0E8F85"/>
          </a:solidFill>
          <a:ln w="12700">
            <a:solidFill>
              <a:srgbClr val="0E8F8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297680" y="37856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5029200" y="36210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8F85"/>
                </a:solidFill>
              </a:rPr>
              <a:t>Resolve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029200" y="3968496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</a:rPr>
              <a:t>She stands her ground and refuses to pay for what she earned.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Themes Revealed Through Marta</a:t>
            </a:r>
            <a:endParaRPr lang="en-US" sz="3200" dirty="0"/>
          </a:p>
        </p:txBody>
      </p:sp>
      <p:sp>
        <p:nvSpPr>
          <p:cNvPr id="3" name="Theme card 1"/>
          <p:cNvSpPr/>
          <p:nvPr/>
        </p:nvSpPr>
        <p:spPr>
          <a:xfrm>
            <a:off x="457200" y="1188720"/>
            <a:ext cx="1920240" cy="3383280"/>
          </a:xfrm>
          <a:prstGeom prst="roundRect">
            <a:avLst>
              <a:gd name="adj" fmla="val 4762"/>
            </a:avLst>
          </a:prstGeom>
          <a:solidFill>
            <a:srgbClr val="FDE6E7"/>
          </a:solidFill>
          <a:ln w="12700">
            <a:solidFill>
              <a:srgbClr val="FDE6E7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4000"/>
              </a:srgbClr>
            </a:outerShdw>
          </a:effectLst>
        </p:spPr>
      </p:sp>
      <p:sp>
        <p:nvSpPr>
          <p:cNvPr id="4" name="Theme card 2"/>
          <p:cNvSpPr/>
          <p:nvPr/>
        </p:nvSpPr>
        <p:spPr>
          <a:xfrm>
            <a:off x="2560320" y="1188720"/>
            <a:ext cx="1920240" cy="3383280"/>
          </a:xfrm>
          <a:prstGeom prst="roundRect">
            <a:avLst>
              <a:gd name="adj" fmla="val 4762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4000"/>
              </a:srgbClr>
            </a:outerShdw>
          </a:effectLst>
        </p:spPr>
      </p:sp>
      <p:sp>
        <p:nvSpPr>
          <p:cNvPr id="5" name="Theme card 3"/>
          <p:cNvSpPr/>
          <p:nvPr/>
        </p:nvSpPr>
        <p:spPr>
          <a:xfrm>
            <a:off x="4663440" y="1188720"/>
            <a:ext cx="1920240" cy="3383280"/>
          </a:xfrm>
          <a:prstGeom prst="roundRect">
            <a:avLst>
              <a:gd name="adj" fmla="val 4762"/>
            </a:avLst>
          </a:prstGeom>
          <a:solidFill>
            <a:srgbClr val="E1ECFF"/>
          </a:solidFill>
          <a:ln w="12700">
            <a:solidFill>
              <a:srgbClr val="E1ECFF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4000"/>
              </a:srgbClr>
            </a:outerShdw>
          </a:effectLst>
        </p:spPr>
      </p:sp>
      <p:sp>
        <p:nvSpPr>
          <p:cNvPr id="6" name="Theme card 4"/>
          <p:cNvSpPr/>
          <p:nvPr/>
        </p:nvSpPr>
        <p:spPr>
          <a:xfrm>
            <a:off x="6766560" y="1188720"/>
            <a:ext cx="1920240" cy="3383280"/>
          </a:xfrm>
          <a:prstGeom prst="roundRect">
            <a:avLst>
              <a:gd name="adj" fmla="val 4762"/>
            </a:avLst>
          </a:prstGeom>
          <a:solidFill>
            <a:srgbClr val="ECE5FA"/>
          </a:solidFill>
          <a:ln w="12700">
            <a:solidFill>
              <a:srgbClr val="ECE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4000"/>
              </a:srgbClr>
            </a:outerShdw>
          </a:effectLst>
        </p:spPr>
      </p:sp>
      <p:sp>
        <p:nvSpPr>
          <p:cNvPr id="7" name="Fairness circle"/>
          <p:cNvSpPr/>
          <p:nvPr/>
        </p:nvSpPr>
        <p:spPr>
          <a:xfrm>
            <a:off x="1051560" y="1371600"/>
            <a:ext cx="731520" cy="731520"/>
          </a:xfrm>
          <a:prstGeom prst="ellipse">
            <a:avLst/>
          </a:prstGeom>
          <a:solidFill>
            <a:srgbClr val="D93D4A"/>
          </a:solidFill>
          <a:ln w="12700">
            <a:solidFill>
              <a:srgbClr val="D93D4A"/>
            </a:solidFill>
            <a:prstDash val="solid"/>
          </a:ln>
        </p:spPr>
      </p:sp>
      <p:pic>
        <p:nvPicPr>
          <p:cNvPr id="8" name="Fairness icon" descr="Fairne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5544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9436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3D4A"/>
                </a:solidFill>
              </a:rPr>
              <a:t>Fairness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78892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213D"/>
                </a:solidFill>
              </a:rPr>
              <a:t>Rewards should go to those who earn them, not those with influence.</a:t>
            </a:r>
            <a:endParaRPr lang="en-US" sz="1400" dirty="0"/>
          </a:p>
        </p:txBody>
      </p:sp>
      <p:sp>
        <p:nvSpPr>
          <p:cNvPr id="11" name="Dignity circle"/>
          <p:cNvSpPr/>
          <p:nvPr/>
        </p:nvSpPr>
        <p:spPr>
          <a:xfrm>
            <a:off x="3154680" y="1371600"/>
            <a:ext cx="731520" cy="731520"/>
          </a:xfrm>
          <a:prstGeom prst="ellipse">
            <a:avLst/>
          </a:prstGeom>
          <a:solidFill>
            <a:srgbClr val="0E8F85"/>
          </a:solidFill>
          <a:ln w="12700">
            <a:solidFill>
              <a:srgbClr val="0E8F85"/>
            </a:solidFill>
            <a:prstDash val="solid"/>
          </a:ln>
        </p:spPr>
      </p:sp>
      <p:pic>
        <p:nvPicPr>
          <p:cNvPr id="12" name="Dignity icon" descr="Digni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5544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69748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8F85"/>
                </a:solidFill>
              </a:rPr>
              <a:t>Dignity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2697480" y="278892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213D"/>
                </a:solidFill>
              </a:rPr>
              <a:t>Self-respect cannot be bought and must be defended.</a:t>
            </a:r>
            <a:endParaRPr lang="en-US" sz="1400" dirty="0"/>
          </a:p>
        </p:txBody>
      </p:sp>
      <p:sp>
        <p:nvSpPr>
          <p:cNvPr id="15" name="Prejudice circle"/>
          <p:cNvSpPr/>
          <p:nvPr/>
        </p:nvSpPr>
        <p:spPr>
          <a:xfrm>
            <a:off x="5257800" y="1371600"/>
            <a:ext cx="731520" cy="731520"/>
          </a:xfrm>
          <a:prstGeom prst="ellipse">
            <a:avLst/>
          </a:prstGeom>
          <a:solidFill>
            <a:srgbClr val="2563D8"/>
          </a:solidFill>
          <a:ln w="12700">
            <a:solidFill>
              <a:srgbClr val="2563D8"/>
            </a:solidFill>
            <a:prstDash val="solid"/>
          </a:ln>
        </p:spPr>
      </p:sp>
      <p:pic>
        <p:nvPicPr>
          <p:cNvPr id="16" name="Prejudice icon" descr="Prejudi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5544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80060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D8"/>
                </a:solidFill>
              </a:rPr>
              <a:t>Prejudice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4800600" y="278892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213D"/>
                </a:solidFill>
              </a:rPr>
              <a:t>Class and ethnicity quietly tilt the field against Marta.</a:t>
            </a:r>
            <a:endParaRPr lang="en-US" sz="1400" dirty="0"/>
          </a:p>
        </p:txBody>
      </p:sp>
      <p:sp>
        <p:nvSpPr>
          <p:cNvPr id="19" name="Family circle"/>
          <p:cNvSpPr/>
          <p:nvPr/>
        </p:nvSpPr>
        <p:spPr>
          <a:xfrm>
            <a:off x="7360920" y="1371600"/>
            <a:ext cx="731520" cy="731520"/>
          </a:xfrm>
          <a:prstGeom prst="ellipse">
            <a:avLst/>
          </a:prstGeom>
          <a:solidFill>
            <a:srgbClr val="6A3FCF"/>
          </a:solidFill>
          <a:ln w="12700">
            <a:solidFill>
              <a:srgbClr val="6A3FCF"/>
            </a:solidFill>
            <a:prstDash val="solid"/>
          </a:ln>
        </p:spPr>
      </p:sp>
      <p:pic>
        <p:nvPicPr>
          <p:cNvPr id="20" name="Family icon" descr="Famil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55448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0372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A3FCF"/>
                </a:solidFill>
              </a:rPr>
              <a:t>Family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903720" y="278892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213D"/>
                </a:solidFill>
              </a:rPr>
              <a:t>Love and values from home give her the strength to act.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Marta's Character Arc</a:t>
            </a:r>
            <a:endParaRPr lang="en-US" sz="3200" dirty="0"/>
          </a:p>
        </p:txBody>
      </p:sp>
      <p:sp>
        <p:nvSpPr>
          <p:cNvPr id="3" name="Before card"/>
          <p:cNvSpPr/>
          <p:nvPr/>
        </p:nvSpPr>
        <p:spPr>
          <a:xfrm>
            <a:off x="457200" y="1188720"/>
            <a:ext cx="3566160" cy="3429000"/>
          </a:xfrm>
          <a:prstGeom prst="roundRect">
            <a:avLst>
              <a:gd name="adj" fmla="val 2667"/>
            </a:avLst>
          </a:prstGeom>
          <a:solidFill>
            <a:srgbClr val="FFF1CC"/>
          </a:solidFill>
          <a:ln w="12700">
            <a:solidFill>
              <a:srgbClr val="FFF1CC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4000"/>
              </a:srgbClr>
            </a:outerShdw>
          </a:effectLst>
        </p:spPr>
      </p:sp>
      <p:pic>
        <p:nvPicPr>
          <p:cNvPr id="4" name="Marta before" descr="Marta befo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822960" cy="822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325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7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33172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</a:rPr>
              <a:t>Quiet and self-doubting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</a:rPr>
              <a:t>Expects others to decide her fate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</a:rPr>
              <a:t>Sees poverty as a weakness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</a:rPr>
              <a:t>Hopes the jacket will speak for her</a:t>
            </a:r>
            <a:endParaRPr lang="en-US" sz="1500" dirty="0"/>
          </a:p>
        </p:txBody>
      </p:sp>
      <p:sp>
        <p:nvSpPr>
          <p:cNvPr id="7" name="Arc arrow"/>
          <p:cNvSpPr/>
          <p:nvPr/>
        </p:nvSpPr>
        <p:spPr>
          <a:xfrm>
            <a:off x="4114800" y="2514600"/>
            <a:ext cx="914400" cy="731520"/>
          </a:xfrm>
          <a:prstGeom prst="rightArrow">
            <a:avLst/>
          </a:prstGeom>
          <a:solidFill>
            <a:srgbClr val="D93D4A"/>
          </a:solidFill>
          <a:ln w="12700">
            <a:solidFill>
              <a:srgbClr val="D93D4A"/>
            </a:solidFill>
            <a:prstDash val="solid"/>
          </a:ln>
        </p:spPr>
      </p:sp>
      <p:sp>
        <p:nvSpPr>
          <p:cNvPr id="8" name="After card"/>
          <p:cNvSpPr/>
          <p:nvPr/>
        </p:nvSpPr>
        <p:spPr>
          <a:xfrm>
            <a:off x="5120640" y="1188720"/>
            <a:ext cx="3566160" cy="3429000"/>
          </a:xfrm>
          <a:prstGeom prst="roundRect">
            <a:avLst>
              <a:gd name="adj" fmla="val 2667"/>
            </a:avLst>
          </a:prstGeom>
          <a:solidFill>
            <a:srgbClr val="0E8F85"/>
          </a:solidFill>
          <a:ln w="12700">
            <a:solidFill>
              <a:srgbClr val="0E8F8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4000"/>
              </a:srgbClr>
            </a:outerShdw>
          </a:effectLst>
        </p:spPr>
      </p:sp>
      <p:pic>
        <p:nvPicPr>
          <p:cNvPr id="9" name="Marta after" descr="Marta af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25880"/>
            <a:ext cx="822960" cy="8229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309360" y="1325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5349240" y="233172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Speaks up for herself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Takes charge of her own worth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Sees her background as strength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Knows she earned the jacket and her voice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 and Discussion</a:t>
            </a:r>
            <a:endParaRPr lang="en-US" sz="3200" dirty="0"/>
          </a:p>
        </p:txBody>
      </p:sp>
      <p:sp>
        <p:nvSpPr>
          <p:cNvPr id="3" name="Takeaway card"/>
          <p:cNvSpPr/>
          <p:nvPr/>
        </p:nvSpPr>
        <p:spPr>
          <a:xfrm>
            <a:off x="457200" y="1188720"/>
            <a:ext cx="4114800" cy="3429000"/>
          </a:xfrm>
          <a:prstGeom prst="roundRect">
            <a:avLst>
              <a:gd name="adj" fmla="val 2667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Marta in one sentence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shy, hardworking girl who learns that dignity and courage matter as much as grades, and that earning something means defending it.</a:t>
            </a:r>
            <a:endParaRPr lang="en-US" sz="1600" dirty="0"/>
          </a:p>
        </p:txBody>
      </p:sp>
      <p:pic>
        <p:nvPicPr>
          <p:cNvPr id="6" name="Jacket illustration" descr="Jack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2834640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84632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B703"/>
                </a:solidFill>
              </a:rPr>
              <a:t>Questions to discuss</a:t>
            </a:r>
            <a:endParaRPr lang="en-US" sz="2000" dirty="0"/>
          </a:p>
        </p:txBody>
      </p:sp>
      <p:sp>
        <p:nvSpPr>
          <p:cNvPr id="8" name="Question 1"/>
          <p:cNvSpPr/>
          <p:nvPr/>
        </p:nvSpPr>
        <p:spPr>
          <a:xfrm>
            <a:off x="4846320" y="1828800"/>
            <a:ext cx="3840480" cy="804672"/>
          </a:xfrm>
          <a:prstGeom prst="roundRect">
            <a:avLst>
              <a:gd name="adj" fmla="val 11364"/>
            </a:avLst>
          </a:prstGeom>
          <a:solidFill>
            <a:srgbClr val="D93D4A"/>
          </a:solidFill>
          <a:ln w="12700">
            <a:solidFill>
              <a:srgbClr val="D93D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83480" y="182880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0" y="1828800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Why does Marta's grandfather refuse to pay, and was he right?</a:t>
            </a:r>
            <a:endParaRPr lang="en-US" sz="1400" dirty="0"/>
          </a:p>
        </p:txBody>
      </p:sp>
      <p:sp>
        <p:nvSpPr>
          <p:cNvPr id="11" name="Question 2"/>
          <p:cNvSpPr/>
          <p:nvPr/>
        </p:nvSpPr>
        <p:spPr>
          <a:xfrm>
            <a:off x="4846320" y="2761488"/>
            <a:ext cx="3840480" cy="804672"/>
          </a:xfrm>
          <a:prstGeom prst="roundRect">
            <a:avLst>
              <a:gd name="adj" fmla="val 11364"/>
            </a:avLst>
          </a:prstGeom>
          <a:solidFill>
            <a:srgbClr val="0E8F85"/>
          </a:solidFill>
          <a:ln w="12700">
            <a:solidFill>
              <a:srgbClr val="0E8F8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83480" y="2761488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0" y="2761488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How does shyness shape Marta's choices?</a:t>
            </a:r>
            <a:endParaRPr lang="en-US" sz="1400" dirty="0"/>
          </a:p>
        </p:txBody>
      </p:sp>
      <p:sp>
        <p:nvSpPr>
          <p:cNvPr id="14" name="Question 3"/>
          <p:cNvSpPr/>
          <p:nvPr/>
        </p:nvSpPr>
        <p:spPr>
          <a:xfrm>
            <a:off x="4846320" y="3694176"/>
            <a:ext cx="3840480" cy="804672"/>
          </a:xfrm>
          <a:prstGeom prst="roundRect">
            <a:avLst>
              <a:gd name="adj" fmla="val 11364"/>
            </a:avLst>
          </a:prstGeom>
          <a:solidFill>
            <a:srgbClr val="2563D8"/>
          </a:solidFill>
          <a:ln w="12700">
            <a:solidFill>
              <a:srgbClr val="2563D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983480" y="3694176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0" y="3694176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What would you have done in her place?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holarship Jacket Bright">
  <a:themeElements>
    <a:clrScheme name="Scholarship Jacket Bright">
      <a:dk1>
        <a:srgbClr val="14213D"/>
      </a:dk1>
      <a:lt1>
        <a:srgbClr val="FFFFFF"/>
      </a:lt1>
      <a:dk2>
        <a:srgbClr val="3B2A7A"/>
      </a:dk2>
      <a:lt2>
        <a:srgbClr val="F4F6FB"/>
      </a:lt2>
      <a:accent1>
        <a:srgbClr val="F2545B"/>
      </a:accent1>
      <a:accent2>
        <a:srgbClr val="12A89D"/>
      </a:accent2>
      <a:accent3>
        <a:srgbClr val="FFB703"/>
      </a:accent3>
      <a:accent4>
        <a:srgbClr val="3A86FF"/>
      </a:accent4>
      <a:accent5>
        <a:srgbClr val="7C4DDB"/>
      </a:accent5>
      <a:accent6>
        <a:srgbClr val="2BAE66"/>
      </a:accent6>
      <a:hlink>
        <a:srgbClr val="3A86FF"/>
      </a:hlink>
      <a:folHlink>
        <a:srgbClr val="7C4DDB"/>
      </a:folHlink>
    </a:clrScheme>
    <a:fontScheme name="Scholarship Jacket Br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Scholarship Jacket - Marta's Personality</dc:title>
  <dc:subject>PptxGenJS Presentation</dc:subject>
  <dc:creator>Claude</dc:creator>
  <cp:lastModifiedBy>Claude</cp:lastModifiedBy>
  <cp:revision>1</cp:revision>
  <dcterms:created xsi:type="dcterms:W3CDTF">2026-10-10T15:22:26Z</dcterms:created>
  <dcterms:modified xsi:type="dcterms:W3CDTF">2026-10-10T15:22:26Z</dcterms:modified>
</cp:coreProperties>
</file>